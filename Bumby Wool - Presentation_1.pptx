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2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6797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We're Group 6, and over the past several weeks we've been working with Bumby Wool, a Canadian sustainable wool brand, to build them a KPI system out of data that's currently scattered across three platforms. I'll walk you through what we found and what we recommend.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Bumby Wool has plenty of data — it's just siloed. Shopify knows orders, Meta knows ads, Google Analytics knows traffic, and nobody's combining them. The founder's real questions all fall in the gaps between these platforms.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treated this as describing the current state clearly, rather than forecasting — with only 3.5 months of data, that's the honest and useful call. Five stages, from cleaning through to recommendations, with a light toolset a small business can actually maintain.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headline. About 27.6 thousand dollars in revenue over 151 orders. We lead with the 101 dollar median, not the 183 dollar average, because one genuine bulk order skews the mean. Two numbers to remember: only 14% of buyers come back, and three quarters of orders ship to the 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roughly tripled from April to May and held in June. July shows the biggest bar, but that's misleading twice: it's only half a month, and it contains that one big bulk order. The real story is the steady spring growth.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histogram is why we keep pointing at the median. Most orders cluster under 200 dollars, but a few large ones pull the mean up to 183. For a business this size, 101 dollars is the honest 'typical order' figure.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Among items we could match to the catalog, Tops and Diaper Covers lead. We're careful to call this directional because catalog matching was only about 54% — part of the strength here is cleaner tagging. But the concentration is real and worth acting 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with the most upside. Of the 128 people who've actually bought, only 18 have come back. Retention is a cheaper lever than acquisition, so even a small lift here compounds. Several of our recommendations aim right at this.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something that wasn't even on the original question list. Three quarters of orders go to the United States, and everything's priced in USD. For a Red Deer brand, that reframes shipping, pricing, and where advertising should focus.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Operationally, 87% fulfilled is solid; we'd just watch the open 13% so it doesn't creep up. And a pleasant surprise on discounts: coded orders are actually bigger than uncoded ones, so discounting looks disciplined rather than margin-eroding.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We'd rather show a clearly labelled gap than publish numbers we can't stand behind. Two of the founder's questions — ad efficiency and the funnel — need Meta and Google Analytics data that wasn't in this export. They're built into the framework, ready to light up once that data is connected.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recommendations split in two. On the left, things Bumby Wool can do now with the Shopify data — the retention email flow is the highest-leverage. On the right, the foundational fixes, mostly about tracking hygiene, that unlock the marketing and funnel picture. The SKU fix is unglamorous but it's the single biggest constraint we hit.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immediate next steps are connecting the marketing and web feeds, rebuilding product reporting on clean SKUs, and validating our patterns on more data. None of it needs heavy tooling — mostly consistency in how data is captured. Thank you, and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4C41"/>
        </a:solidFill>
        <a:effectLst/>
      </p:bgPr>
    </p:bg>
    <p:spTree>
      <p:nvGrpSpPr>
        <p:cNvPr id="1" name=""/>
        <p:cNvGrpSpPr/>
        <p:nvPr/>
      </p:nvGrpSpPr>
      <p:grpSpPr>
        <a:xfrm>
          <a:off x="0" y="0"/>
          <a:ext cx="0" cy="0"/>
          <a:chOff x="0" y="0"/>
          <a:chExt cx="0" cy="0"/>
        </a:xfrm>
      </p:grpSpPr>
      <p:sp>
        <p:nvSpPr>
          <p:cNvPr id="2" name="Text 0"/>
          <p:cNvSpPr/>
          <p:nvPr/>
        </p:nvSpPr>
        <p:spPr>
          <a:xfrm>
            <a:off x="640080" y="822960"/>
            <a:ext cx="1097280" cy="1097280"/>
          </a:xfrm>
          <a:prstGeom prst="rect">
            <a:avLst/>
          </a:prstGeom>
          <a:noFill/>
          <a:ln/>
        </p:spPr>
        <p:txBody>
          <a:bodyPr wrap="square" rtlCol="0" anchor="ctr"/>
          <a:lstStyle/>
          <a:p>
            <a:pPr marL="0" indent="0">
              <a:buNone/>
            </a:pPr>
            <a:r>
              <a:rPr lang="en-US" sz="5400" dirty="0">
                <a:solidFill>
                  <a:srgbClr val="C97B4A"/>
                </a:solidFill>
                <a:latin typeface="Calibri" pitchFamily="34" charset="0"/>
                <a:ea typeface="Calibri" pitchFamily="34" charset="-122"/>
                <a:cs typeface="Calibri" pitchFamily="34" charset="-120"/>
              </a:rPr>
              <a:t>❋</a:t>
            </a:r>
            <a:endParaRPr lang="en-US" sz="5400" dirty="0"/>
          </a:p>
        </p:txBody>
      </p:sp>
      <p:sp>
        <p:nvSpPr>
          <p:cNvPr id="3" name="Text 1"/>
          <p:cNvSpPr/>
          <p:nvPr/>
        </p:nvSpPr>
        <p:spPr>
          <a:xfrm>
            <a:off x="640080" y="1965960"/>
            <a:ext cx="10972800" cy="1005840"/>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BUMBY WOOL</a:t>
            </a:r>
            <a:endParaRPr lang="en-US" sz="6000" dirty="0"/>
          </a:p>
        </p:txBody>
      </p:sp>
      <p:sp>
        <p:nvSpPr>
          <p:cNvPr id="4" name="Text 2"/>
          <p:cNvSpPr/>
          <p:nvPr/>
        </p:nvSpPr>
        <p:spPr>
          <a:xfrm>
            <a:off x="658368" y="3063240"/>
            <a:ext cx="10972800" cy="640080"/>
          </a:xfrm>
          <a:prstGeom prst="rect">
            <a:avLst/>
          </a:prstGeom>
          <a:noFill/>
          <a:ln/>
        </p:spPr>
        <p:txBody>
          <a:bodyPr wrap="square" rtlCol="0" anchor="ctr"/>
          <a:lstStyle/>
          <a:p>
            <a:pPr marL="0" indent="0">
              <a:buNone/>
            </a:pPr>
            <a:r>
              <a:rPr lang="en-US" sz="3000" dirty="0">
                <a:solidFill>
                  <a:srgbClr val="E4C580"/>
                </a:solidFill>
                <a:latin typeface="Cambria" pitchFamily="34" charset="0"/>
                <a:ea typeface="Cambria" pitchFamily="34" charset="-122"/>
                <a:cs typeface="Cambria" pitchFamily="34" charset="-120"/>
              </a:rPr>
              <a:t>KPI Framework &amp; Analytics</a:t>
            </a:r>
            <a:endParaRPr lang="en-US" sz="3000" dirty="0"/>
          </a:p>
        </p:txBody>
      </p:sp>
      <p:sp>
        <p:nvSpPr>
          <p:cNvPr id="5" name="Text 3"/>
          <p:cNvSpPr/>
          <p:nvPr/>
        </p:nvSpPr>
        <p:spPr>
          <a:xfrm>
            <a:off x="658368" y="3749040"/>
            <a:ext cx="10058400" cy="457200"/>
          </a:xfrm>
          <a:prstGeom prst="rect">
            <a:avLst/>
          </a:prstGeom>
          <a:noFill/>
          <a:ln/>
        </p:spPr>
        <p:txBody>
          <a:bodyPr wrap="square" rtlCol="0" anchor="ctr"/>
          <a:lstStyle/>
          <a:p>
            <a:pPr marL="0" indent="0">
              <a:buNone/>
            </a:pPr>
            <a:r>
              <a:rPr lang="en-US" sz="1500" i="1" dirty="0">
                <a:solidFill>
                  <a:srgbClr val="CFE0D6"/>
                </a:solidFill>
                <a:latin typeface="Calibri" pitchFamily="34" charset="0"/>
                <a:ea typeface="Calibri" pitchFamily="34" charset="-122"/>
                <a:cs typeface="Calibri" pitchFamily="34" charset="-120"/>
              </a:rPr>
              <a:t>Turning fragmented Shopify, marketing, and web data into decisions a small team can act on</a:t>
            </a:r>
            <a:endParaRPr lang="en-US" sz="1500" dirty="0"/>
          </a:p>
        </p:txBody>
      </p:sp>
      <p:sp>
        <p:nvSpPr>
          <p:cNvPr id="6" name="Text 4"/>
          <p:cNvSpPr/>
          <p:nvPr/>
        </p:nvSpPr>
        <p:spPr>
          <a:xfrm>
            <a:off x="658368" y="5669280"/>
            <a:ext cx="10972800" cy="914400"/>
          </a:xfrm>
          <a:prstGeom prst="rect">
            <a:avLst/>
          </a:prstGeom>
          <a:noFill/>
          <a:ln/>
        </p:spPr>
        <p:txBody>
          <a:bodyPr wrap="square" rtlCol="0" anchor="t"/>
          <a:lstStyle/>
          <a:p>
            <a:pPr marL="0" indent="0">
              <a:buNone/>
            </a:pPr>
            <a:r>
              <a:rPr lang="en-US" sz="1400" dirty="0">
                <a:solidFill>
                  <a:srgbClr val="CFE0D6"/>
                </a:solidFill>
                <a:latin typeface="Calibri" pitchFamily="34" charset="0"/>
                <a:ea typeface="Calibri" pitchFamily="34" charset="-122"/>
                <a:cs typeface="Calibri" pitchFamily="34" charset="-120"/>
              </a:rPr>
              <a:t>Data Analytics Capstone · MGMT 6219 · Riipen Industry Project</a:t>
            </a:r>
            <a:endParaRPr lang="en-US" sz="1400" dirty="0"/>
          </a:p>
          <a:p>
            <a:pPr marL="0" indent="0">
              <a:buNone/>
            </a:pPr>
            <a:r>
              <a:rPr lang="en-US" sz="1200" dirty="0">
                <a:solidFill>
                  <a:srgbClr val="9FB8AC"/>
                </a:solidFill>
                <a:latin typeface="Calibri" pitchFamily="34" charset="0"/>
                <a:ea typeface="Calibri" pitchFamily="34" charset="-122"/>
                <a:cs typeface="Calibri" pitchFamily="34" charset="-120"/>
              </a:rPr>
              <a:t>Group 6  —  Baranitharan Balraju · Marvelous Chidiebube Ihedigbo · Rahul · Arun Saji · Antony Boon Clinu Mangatt Raju</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marL="0" indent="0" algn="l">
              <a:buNone/>
            </a:pPr>
            <a:r>
              <a:rPr lang="en-US" sz="3200" b="1" dirty="0">
                <a:solidFill>
                  <a:srgbClr val="264C41"/>
                </a:solidFill>
                <a:latin typeface="Cambria" pitchFamily="34" charset="0"/>
                <a:ea typeface="Cambria" pitchFamily="34" charset="-122"/>
                <a:cs typeface="Cambria" pitchFamily="34" charset="-120"/>
              </a:rPr>
              <a:t>Platforms, no single view</a:t>
            </a:r>
            <a:endParaRPr lang="en-US" sz="3200" dirty="0"/>
          </a:p>
        </p:txBody>
      </p:sp>
      <p:sp>
        <p:nvSpPr>
          <p:cNvPr id="3" name="Text 1"/>
          <p:cNvSpPr/>
          <p:nvPr/>
        </p:nvSpPr>
        <p:spPr>
          <a:xfrm>
            <a:off x="658368" y="1115568"/>
            <a:ext cx="10972800" cy="365760"/>
          </a:xfrm>
          <a:prstGeom prst="rect">
            <a:avLst/>
          </a:prstGeom>
          <a:noFill/>
          <a:ln/>
        </p:spPr>
        <p:txBody>
          <a:bodyPr wrap="square" rtlCol="0" anchor="ctr"/>
          <a:lstStyle/>
          <a:p>
            <a:pPr marL="0" indent="0" algn="l">
              <a:buNone/>
            </a:pPr>
            <a:r>
              <a:rPr lang="en-US" sz="1400" i="1" dirty="0">
                <a:solidFill>
                  <a:srgbClr val="C97B4A"/>
                </a:solidFill>
                <a:latin typeface="Calibri" pitchFamily="34" charset="0"/>
                <a:ea typeface="Calibri" pitchFamily="34" charset="-122"/>
                <a:cs typeface="Calibri" pitchFamily="34" charset="-120"/>
              </a:rPr>
              <a:t>The core problem isn't missing data — it's fragmentation</a:t>
            </a:r>
            <a:endParaRPr lang="en-US" sz="1400" dirty="0"/>
          </a:p>
        </p:txBody>
      </p:sp>
      <p:sp>
        <p:nvSpPr>
          <p:cNvPr id="4" name="Shape 2"/>
          <p:cNvSpPr/>
          <p:nvPr/>
        </p:nvSpPr>
        <p:spPr>
          <a:xfrm>
            <a:off x="822960" y="1828800"/>
            <a:ext cx="3291840" cy="2194560"/>
          </a:xfrm>
          <a:prstGeom prst="roundRect">
            <a:avLst>
              <a:gd name="adj" fmla="val 3333"/>
            </a:avLst>
          </a:prstGeom>
          <a:solidFill>
            <a:srgbClr val="FFFFFF"/>
          </a:solidFill>
          <a:ln w="12700">
            <a:solidFill>
              <a:srgbClr val="E2DAC9"/>
            </a:solidFill>
            <a:prstDash val="solid"/>
          </a:ln>
          <a:effectLst>
            <a:outerShdw blurRad="76200" dist="25400" dir="5400000" algn="bl" rotWithShape="0">
              <a:srgbClr val="BBBBBB">
                <a:alpha val="35000"/>
              </a:srgbClr>
            </a:outerShdw>
          </a:effectLst>
        </p:spPr>
        <p:txBody>
          <a:bodyPr/>
          <a:lstStyle/>
          <a:p>
            <a:endParaRPr lang="en-US"/>
          </a:p>
        </p:txBody>
      </p:sp>
      <p:sp>
        <p:nvSpPr>
          <p:cNvPr id="5" name="Shape 3"/>
          <p:cNvSpPr/>
          <p:nvPr/>
        </p:nvSpPr>
        <p:spPr>
          <a:xfrm>
            <a:off x="1143000" y="2148840"/>
            <a:ext cx="566928" cy="566928"/>
          </a:xfrm>
          <a:prstGeom prst="ellipse">
            <a:avLst/>
          </a:prstGeom>
          <a:solidFill>
            <a:srgbClr val="2F5D50"/>
          </a:solidFill>
          <a:ln/>
        </p:spPr>
        <p:txBody>
          <a:bodyPr/>
          <a:lstStyle/>
          <a:p>
            <a:endParaRPr lang="en-US"/>
          </a:p>
        </p:txBody>
      </p:sp>
      <p:sp>
        <p:nvSpPr>
          <p:cNvPr id="6" name="Text 4"/>
          <p:cNvSpPr/>
          <p:nvPr/>
        </p:nvSpPr>
        <p:spPr>
          <a:xfrm>
            <a:off x="1143000" y="2148840"/>
            <a:ext cx="566928" cy="56692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1874520" y="2194560"/>
            <a:ext cx="2103120" cy="457200"/>
          </a:xfrm>
          <a:prstGeom prst="rect">
            <a:avLst/>
          </a:prstGeom>
          <a:noFill/>
          <a:ln/>
        </p:spPr>
        <p:txBody>
          <a:bodyPr wrap="square" rtlCol="0" anchor="ctr"/>
          <a:lstStyle/>
          <a:p>
            <a:pPr marL="0" indent="0">
              <a:buNone/>
            </a:pPr>
            <a:r>
              <a:rPr lang="en-US" sz="2000" b="1" dirty="0">
                <a:solidFill>
                  <a:srgbClr val="264C41"/>
                </a:solidFill>
                <a:latin typeface="Cambria" pitchFamily="34" charset="0"/>
                <a:ea typeface="Cambria" pitchFamily="34" charset="-122"/>
                <a:cs typeface="Cambria" pitchFamily="34" charset="-120"/>
              </a:rPr>
              <a:t>Shopify</a:t>
            </a:r>
            <a:endParaRPr lang="en-US" sz="2000" dirty="0"/>
          </a:p>
        </p:txBody>
      </p:sp>
      <p:sp>
        <p:nvSpPr>
          <p:cNvPr id="8" name="Text 6"/>
          <p:cNvSpPr/>
          <p:nvPr/>
        </p:nvSpPr>
        <p:spPr>
          <a:xfrm>
            <a:off x="1143000" y="2926080"/>
            <a:ext cx="2651760" cy="914400"/>
          </a:xfrm>
          <a:prstGeom prst="rect">
            <a:avLst/>
          </a:prstGeom>
          <a:noFill/>
          <a:ln/>
        </p:spPr>
        <p:txBody>
          <a:bodyPr wrap="square" rtlCol="0" anchor="ctr"/>
          <a:lstStyle/>
          <a:p>
            <a:pPr marL="0" indent="0">
              <a:buNone/>
            </a:pPr>
            <a:r>
              <a:rPr lang="en-US" sz="1400" dirty="0">
                <a:solidFill>
                  <a:srgbClr val="2B2B28"/>
                </a:solidFill>
                <a:latin typeface="Calibri" pitchFamily="34" charset="0"/>
                <a:ea typeface="Calibri" pitchFamily="34" charset="-122"/>
                <a:cs typeface="Calibri" pitchFamily="34" charset="-120"/>
              </a:rPr>
              <a:t>Sales, products, customers</a:t>
            </a:r>
            <a:endParaRPr lang="en-US" sz="1400" dirty="0"/>
          </a:p>
        </p:txBody>
      </p:sp>
      <p:sp>
        <p:nvSpPr>
          <p:cNvPr id="19" name="Text 17"/>
          <p:cNvSpPr/>
          <p:nvPr/>
        </p:nvSpPr>
        <p:spPr>
          <a:xfrm>
            <a:off x="822960" y="4480560"/>
            <a:ext cx="10515600" cy="1097280"/>
          </a:xfrm>
          <a:prstGeom prst="rect">
            <a:avLst/>
          </a:prstGeom>
          <a:noFill/>
          <a:ln/>
        </p:spPr>
        <p:txBody>
          <a:bodyPr wrap="square" rtlCol="0" anchor="ctr"/>
          <a:lstStyle/>
          <a:p>
            <a:pPr marL="0" indent="0" algn="l">
              <a:buNone/>
            </a:pPr>
            <a:r>
              <a:rPr lang="en-US" sz="1600" dirty="0">
                <a:solidFill>
                  <a:srgbClr val="2B2B28"/>
                </a:solidFill>
                <a:latin typeface="Calibri" pitchFamily="34" charset="0"/>
                <a:ea typeface="Calibri" pitchFamily="34" charset="-122"/>
                <a:cs typeface="Calibri" pitchFamily="34" charset="-120"/>
              </a:rPr>
              <a:t>Shopify platform reports on its own terms. No one has been stitching the stories together — so the founder can't easily see which products make money, where buyers drop off, or whether ad spend pays off.</a:t>
            </a:r>
            <a:endParaRPr lang="en-US" sz="1600" dirty="0"/>
          </a:p>
        </p:txBody>
      </p:sp>
      <p:sp>
        <p:nvSpPr>
          <p:cNvPr id="20" name="Text 18"/>
          <p:cNvSpPr/>
          <p:nvPr/>
        </p:nvSpPr>
        <p:spPr>
          <a:xfrm>
            <a:off x="822960" y="5577840"/>
            <a:ext cx="10515600" cy="548640"/>
          </a:xfrm>
          <a:prstGeom prst="rect">
            <a:avLst/>
          </a:prstGeom>
          <a:noFill/>
          <a:ln/>
        </p:spPr>
        <p:txBody>
          <a:bodyPr wrap="square" rtlCol="0" anchor="ctr"/>
          <a:lstStyle/>
          <a:p>
            <a:pPr marL="0" indent="0">
              <a:buNone/>
            </a:pPr>
            <a:r>
              <a:rPr lang="en-US" sz="1600" b="1" i="1" dirty="0">
                <a:solidFill>
                  <a:srgbClr val="2F5D50"/>
                </a:solidFill>
                <a:latin typeface="Calibri" pitchFamily="34" charset="0"/>
                <a:ea typeface="Calibri" pitchFamily="34" charset="-122"/>
                <a:cs typeface="Calibri" pitchFamily="34" charset="-120"/>
              </a:rPr>
              <a:t>Our job: define the few numbers that matter, and put them in one place a small team can maintain.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marL="0" indent="0" algn="l">
              <a:buNone/>
            </a:pPr>
            <a:r>
              <a:rPr lang="en-US" sz="3200" b="1" dirty="0">
                <a:solidFill>
                  <a:srgbClr val="264C41"/>
                </a:solidFill>
                <a:latin typeface="Cambria" pitchFamily="34" charset="0"/>
                <a:ea typeface="Cambria" pitchFamily="34" charset="-122"/>
                <a:cs typeface="Cambria" pitchFamily="34" charset="-120"/>
              </a:rPr>
              <a:t>How we approached it</a:t>
            </a:r>
            <a:endParaRPr lang="en-US" sz="3200" dirty="0"/>
          </a:p>
        </p:txBody>
      </p:sp>
      <p:sp>
        <p:nvSpPr>
          <p:cNvPr id="3" name="Text 1"/>
          <p:cNvSpPr/>
          <p:nvPr/>
        </p:nvSpPr>
        <p:spPr>
          <a:xfrm>
            <a:off x="658368" y="1115568"/>
            <a:ext cx="10972800" cy="365760"/>
          </a:xfrm>
          <a:prstGeom prst="rect">
            <a:avLst/>
          </a:prstGeom>
          <a:noFill/>
          <a:ln/>
        </p:spPr>
        <p:txBody>
          <a:bodyPr wrap="square" rtlCol="0" anchor="ctr"/>
          <a:lstStyle/>
          <a:p>
            <a:pPr marL="0" indent="0" algn="l">
              <a:buNone/>
            </a:pPr>
            <a:r>
              <a:rPr lang="en-US" sz="1400" i="1" dirty="0">
                <a:solidFill>
                  <a:srgbClr val="C97B4A"/>
                </a:solidFill>
                <a:latin typeface="Calibri" pitchFamily="34" charset="0"/>
                <a:ea typeface="Calibri" pitchFamily="34" charset="-122"/>
                <a:cs typeface="Calibri" pitchFamily="34" charset="-120"/>
              </a:rPr>
              <a:t>A current-state analytics project, not a modelling exercise</a:t>
            </a:r>
            <a:endParaRPr lang="en-US" sz="1400" dirty="0"/>
          </a:p>
        </p:txBody>
      </p:sp>
      <p:sp>
        <p:nvSpPr>
          <p:cNvPr id="4" name="Shape 2"/>
          <p:cNvSpPr/>
          <p:nvPr/>
        </p:nvSpPr>
        <p:spPr>
          <a:xfrm>
            <a:off x="1325880" y="2011680"/>
            <a:ext cx="822960" cy="822960"/>
          </a:xfrm>
          <a:prstGeom prst="ellipse">
            <a:avLst/>
          </a:prstGeom>
          <a:solidFill>
            <a:srgbClr val="2F5D50"/>
          </a:solidFill>
          <a:ln/>
        </p:spPr>
        <p:txBody>
          <a:bodyPr/>
          <a:lstStyle/>
          <a:p>
            <a:endParaRPr lang="en-US"/>
          </a:p>
        </p:txBody>
      </p:sp>
      <p:sp>
        <p:nvSpPr>
          <p:cNvPr id="5" name="Text 3"/>
          <p:cNvSpPr/>
          <p:nvPr/>
        </p:nvSpPr>
        <p:spPr>
          <a:xfrm>
            <a:off x="1325880" y="2011680"/>
            <a:ext cx="822960" cy="82296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6" name="Text 4"/>
          <p:cNvSpPr/>
          <p:nvPr/>
        </p:nvSpPr>
        <p:spPr>
          <a:xfrm>
            <a:off x="640080" y="3017520"/>
            <a:ext cx="2194560" cy="457200"/>
          </a:xfrm>
          <a:prstGeom prst="rect">
            <a:avLst/>
          </a:prstGeom>
          <a:noFill/>
          <a:ln/>
        </p:spPr>
        <p:txBody>
          <a:bodyPr wrap="square" rtlCol="0" anchor="ctr"/>
          <a:lstStyle/>
          <a:p>
            <a:pPr marL="0" indent="0" algn="ctr">
              <a:buNone/>
            </a:pPr>
            <a:r>
              <a:rPr lang="en-US" sz="1600" b="1" dirty="0">
                <a:solidFill>
                  <a:srgbClr val="264C41"/>
                </a:solidFill>
                <a:latin typeface="Cambria" pitchFamily="34" charset="0"/>
                <a:ea typeface="Cambria" pitchFamily="34" charset="-122"/>
                <a:cs typeface="Cambria" pitchFamily="34" charset="-120"/>
              </a:rPr>
              <a:t>Clean &amp; govern</a:t>
            </a:r>
            <a:endParaRPr lang="en-US" sz="1600" dirty="0"/>
          </a:p>
        </p:txBody>
      </p:sp>
      <p:sp>
        <p:nvSpPr>
          <p:cNvPr id="7" name="Text 5"/>
          <p:cNvSpPr/>
          <p:nvPr/>
        </p:nvSpPr>
        <p:spPr>
          <a:xfrm>
            <a:off x="685800" y="3520440"/>
            <a:ext cx="2103120" cy="1097280"/>
          </a:xfrm>
          <a:prstGeom prst="rect">
            <a:avLst/>
          </a:prstGeom>
          <a:noFill/>
          <a:ln/>
        </p:spPr>
        <p:txBody>
          <a:bodyPr wrap="square" rtlCol="0" anchor="ctr"/>
          <a:lstStyle/>
          <a:p>
            <a:pPr marL="0" indent="0" algn="ctr">
              <a:buNone/>
            </a:pPr>
            <a:r>
              <a:rPr lang="en-US" sz="1250" dirty="0">
                <a:solidFill>
                  <a:srgbClr val="2B2B28"/>
                </a:solidFill>
                <a:latin typeface="Calibri" pitchFamily="34" charset="0"/>
                <a:ea typeface="Calibri" pitchFamily="34" charset="-122"/>
                <a:cs typeface="Calibri" pitchFamily="34" charset="-120"/>
              </a:rPr>
              <a:t>Stripped all PII; flagged test orders &amp; outliers</a:t>
            </a:r>
            <a:endParaRPr lang="en-US" sz="1250" dirty="0"/>
          </a:p>
        </p:txBody>
      </p:sp>
      <p:sp>
        <p:nvSpPr>
          <p:cNvPr id="8" name="Text 6"/>
          <p:cNvSpPr/>
          <p:nvPr/>
        </p:nvSpPr>
        <p:spPr>
          <a:xfrm>
            <a:off x="2377440" y="2148840"/>
            <a:ext cx="548640" cy="548640"/>
          </a:xfrm>
          <a:prstGeom prst="rect">
            <a:avLst/>
          </a:prstGeom>
          <a:noFill/>
          <a:ln/>
        </p:spPr>
        <p:txBody>
          <a:bodyPr wrap="square" rtlCol="0" anchor="ctr"/>
          <a:lstStyle/>
          <a:p>
            <a:pPr marL="0" indent="0" algn="ctr">
              <a:buNone/>
            </a:pPr>
            <a:r>
              <a:rPr lang="en-US" sz="2400" b="1" dirty="0">
                <a:solidFill>
                  <a:srgbClr val="6B8F71"/>
                </a:solidFill>
              </a:rPr>
              <a:t>→</a:t>
            </a:r>
            <a:endParaRPr lang="en-US" sz="2400" dirty="0"/>
          </a:p>
        </p:txBody>
      </p:sp>
      <p:sp>
        <p:nvSpPr>
          <p:cNvPr id="9" name="Shape 7"/>
          <p:cNvSpPr/>
          <p:nvPr/>
        </p:nvSpPr>
        <p:spPr>
          <a:xfrm>
            <a:off x="3557016" y="2011680"/>
            <a:ext cx="822960" cy="822960"/>
          </a:xfrm>
          <a:prstGeom prst="ellipse">
            <a:avLst/>
          </a:prstGeom>
          <a:solidFill>
            <a:srgbClr val="2F5D50"/>
          </a:solidFill>
          <a:ln/>
        </p:spPr>
        <p:txBody>
          <a:bodyPr/>
          <a:lstStyle/>
          <a:p>
            <a:endParaRPr lang="en-US"/>
          </a:p>
        </p:txBody>
      </p:sp>
      <p:sp>
        <p:nvSpPr>
          <p:cNvPr id="10" name="Text 8"/>
          <p:cNvSpPr/>
          <p:nvPr/>
        </p:nvSpPr>
        <p:spPr>
          <a:xfrm>
            <a:off x="3557016" y="2011680"/>
            <a:ext cx="822960" cy="82296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1" name="Text 9"/>
          <p:cNvSpPr/>
          <p:nvPr/>
        </p:nvSpPr>
        <p:spPr>
          <a:xfrm>
            <a:off x="2871216" y="3017520"/>
            <a:ext cx="2194560" cy="457200"/>
          </a:xfrm>
          <a:prstGeom prst="rect">
            <a:avLst/>
          </a:prstGeom>
          <a:noFill/>
          <a:ln/>
        </p:spPr>
        <p:txBody>
          <a:bodyPr wrap="square" rtlCol="0" anchor="ctr"/>
          <a:lstStyle/>
          <a:p>
            <a:pPr marL="0" indent="0" algn="ctr">
              <a:buNone/>
            </a:pPr>
            <a:r>
              <a:rPr lang="en-US" sz="1600" b="1" dirty="0">
                <a:solidFill>
                  <a:srgbClr val="264C41"/>
                </a:solidFill>
                <a:latin typeface="Cambria" pitchFamily="34" charset="0"/>
                <a:ea typeface="Cambria" pitchFamily="34" charset="-122"/>
                <a:cs typeface="Cambria" pitchFamily="34" charset="-120"/>
              </a:rPr>
              <a:t>Explore</a:t>
            </a:r>
            <a:endParaRPr lang="en-US" sz="1600" dirty="0"/>
          </a:p>
        </p:txBody>
      </p:sp>
      <p:sp>
        <p:nvSpPr>
          <p:cNvPr id="12" name="Text 10"/>
          <p:cNvSpPr/>
          <p:nvPr/>
        </p:nvSpPr>
        <p:spPr>
          <a:xfrm>
            <a:off x="2916936" y="3520440"/>
            <a:ext cx="2103120" cy="1097280"/>
          </a:xfrm>
          <a:prstGeom prst="rect">
            <a:avLst/>
          </a:prstGeom>
          <a:noFill/>
          <a:ln/>
        </p:spPr>
        <p:txBody>
          <a:bodyPr wrap="square" rtlCol="0" anchor="ctr"/>
          <a:lstStyle/>
          <a:p>
            <a:pPr marL="0" indent="0" algn="ctr">
              <a:buNone/>
            </a:pPr>
            <a:r>
              <a:rPr lang="en-US" sz="1250" dirty="0">
                <a:solidFill>
                  <a:srgbClr val="2B2B28"/>
                </a:solidFill>
                <a:latin typeface="Calibri" pitchFamily="34" charset="0"/>
                <a:ea typeface="Calibri" pitchFamily="34" charset="-122"/>
                <a:cs typeface="Calibri" pitchFamily="34" charset="-120"/>
              </a:rPr>
              <a:t>Revenue, order value, product mix, segments</a:t>
            </a:r>
            <a:endParaRPr lang="en-US" sz="1250" dirty="0"/>
          </a:p>
        </p:txBody>
      </p:sp>
      <p:sp>
        <p:nvSpPr>
          <p:cNvPr id="13" name="Text 11"/>
          <p:cNvSpPr/>
          <p:nvPr/>
        </p:nvSpPr>
        <p:spPr>
          <a:xfrm>
            <a:off x="4608576" y="2148840"/>
            <a:ext cx="548640" cy="548640"/>
          </a:xfrm>
          <a:prstGeom prst="rect">
            <a:avLst/>
          </a:prstGeom>
          <a:noFill/>
          <a:ln/>
        </p:spPr>
        <p:txBody>
          <a:bodyPr wrap="square" rtlCol="0" anchor="ctr"/>
          <a:lstStyle/>
          <a:p>
            <a:pPr marL="0" indent="0" algn="ctr">
              <a:buNone/>
            </a:pPr>
            <a:r>
              <a:rPr lang="en-US" sz="2400" b="1" dirty="0">
                <a:solidFill>
                  <a:srgbClr val="6B8F71"/>
                </a:solidFill>
              </a:rPr>
              <a:t>→</a:t>
            </a:r>
            <a:endParaRPr lang="en-US" sz="2400" dirty="0"/>
          </a:p>
        </p:txBody>
      </p:sp>
      <p:sp>
        <p:nvSpPr>
          <p:cNvPr id="14" name="Shape 12"/>
          <p:cNvSpPr/>
          <p:nvPr/>
        </p:nvSpPr>
        <p:spPr>
          <a:xfrm>
            <a:off x="5788152" y="2011680"/>
            <a:ext cx="822960" cy="822960"/>
          </a:xfrm>
          <a:prstGeom prst="ellipse">
            <a:avLst/>
          </a:prstGeom>
          <a:solidFill>
            <a:srgbClr val="2F5D50"/>
          </a:solidFill>
          <a:ln/>
        </p:spPr>
        <p:txBody>
          <a:bodyPr/>
          <a:lstStyle/>
          <a:p>
            <a:endParaRPr lang="en-US"/>
          </a:p>
        </p:txBody>
      </p:sp>
      <p:sp>
        <p:nvSpPr>
          <p:cNvPr id="15" name="Text 13"/>
          <p:cNvSpPr/>
          <p:nvPr/>
        </p:nvSpPr>
        <p:spPr>
          <a:xfrm>
            <a:off x="5788152" y="2011680"/>
            <a:ext cx="822960" cy="82296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6" name="Text 14"/>
          <p:cNvSpPr/>
          <p:nvPr/>
        </p:nvSpPr>
        <p:spPr>
          <a:xfrm>
            <a:off x="5102352" y="3017520"/>
            <a:ext cx="2194560" cy="457200"/>
          </a:xfrm>
          <a:prstGeom prst="rect">
            <a:avLst/>
          </a:prstGeom>
          <a:noFill/>
          <a:ln/>
        </p:spPr>
        <p:txBody>
          <a:bodyPr wrap="square" rtlCol="0" anchor="ctr"/>
          <a:lstStyle/>
          <a:p>
            <a:pPr marL="0" indent="0" algn="ctr">
              <a:buNone/>
            </a:pPr>
            <a:r>
              <a:rPr lang="en-US" sz="1600" b="1" dirty="0">
                <a:solidFill>
                  <a:srgbClr val="264C41"/>
                </a:solidFill>
                <a:latin typeface="Cambria" pitchFamily="34" charset="0"/>
                <a:ea typeface="Cambria" pitchFamily="34" charset="-122"/>
                <a:cs typeface="Cambria" pitchFamily="34" charset="-120"/>
              </a:rPr>
              <a:t>Frame KPIs</a:t>
            </a:r>
            <a:endParaRPr lang="en-US" sz="1600" dirty="0"/>
          </a:p>
        </p:txBody>
      </p:sp>
      <p:sp>
        <p:nvSpPr>
          <p:cNvPr id="17" name="Text 15"/>
          <p:cNvSpPr/>
          <p:nvPr/>
        </p:nvSpPr>
        <p:spPr>
          <a:xfrm>
            <a:off x="5148072" y="3520440"/>
            <a:ext cx="2103120" cy="1097280"/>
          </a:xfrm>
          <a:prstGeom prst="rect">
            <a:avLst/>
          </a:prstGeom>
          <a:noFill/>
          <a:ln/>
        </p:spPr>
        <p:txBody>
          <a:bodyPr wrap="square" rtlCol="0" anchor="ctr"/>
          <a:lstStyle/>
          <a:p>
            <a:pPr marL="0" indent="0" algn="ctr">
              <a:buNone/>
            </a:pPr>
            <a:r>
              <a:rPr lang="en-US" sz="1250" dirty="0">
                <a:solidFill>
                  <a:srgbClr val="2B2B28"/>
                </a:solidFill>
                <a:latin typeface="Calibri" pitchFamily="34" charset="0"/>
                <a:ea typeface="Calibri" pitchFamily="34" charset="-122"/>
                <a:cs typeface="Calibri" pitchFamily="34" charset="-120"/>
              </a:rPr>
              <a:t>12 metrics across sales, product, customer, marketing</a:t>
            </a:r>
            <a:endParaRPr lang="en-US" sz="1250" dirty="0"/>
          </a:p>
        </p:txBody>
      </p:sp>
      <p:sp>
        <p:nvSpPr>
          <p:cNvPr id="18" name="Text 16"/>
          <p:cNvSpPr/>
          <p:nvPr/>
        </p:nvSpPr>
        <p:spPr>
          <a:xfrm>
            <a:off x="6839712" y="2148840"/>
            <a:ext cx="548640" cy="548640"/>
          </a:xfrm>
          <a:prstGeom prst="rect">
            <a:avLst/>
          </a:prstGeom>
          <a:noFill/>
          <a:ln/>
        </p:spPr>
        <p:txBody>
          <a:bodyPr wrap="square" rtlCol="0" anchor="ctr"/>
          <a:lstStyle/>
          <a:p>
            <a:pPr marL="0" indent="0" algn="ctr">
              <a:buNone/>
            </a:pPr>
            <a:r>
              <a:rPr lang="en-US" sz="2400" b="1" dirty="0">
                <a:solidFill>
                  <a:srgbClr val="6B8F71"/>
                </a:solidFill>
              </a:rPr>
              <a:t>→</a:t>
            </a:r>
            <a:endParaRPr lang="en-US" sz="2400" dirty="0"/>
          </a:p>
        </p:txBody>
      </p:sp>
      <p:sp>
        <p:nvSpPr>
          <p:cNvPr id="19" name="Shape 17"/>
          <p:cNvSpPr/>
          <p:nvPr/>
        </p:nvSpPr>
        <p:spPr>
          <a:xfrm>
            <a:off x="8019288" y="2011680"/>
            <a:ext cx="822960" cy="822960"/>
          </a:xfrm>
          <a:prstGeom prst="ellipse">
            <a:avLst/>
          </a:prstGeom>
          <a:solidFill>
            <a:srgbClr val="2F5D50"/>
          </a:solidFill>
          <a:ln/>
        </p:spPr>
        <p:txBody>
          <a:bodyPr/>
          <a:lstStyle/>
          <a:p>
            <a:endParaRPr lang="en-US"/>
          </a:p>
        </p:txBody>
      </p:sp>
      <p:sp>
        <p:nvSpPr>
          <p:cNvPr id="20" name="Text 18"/>
          <p:cNvSpPr/>
          <p:nvPr/>
        </p:nvSpPr>
        <p:spPr>
          <a:xfrm>
            <a:off x="8019288" y="2011680"/>
            <a:ext cx="822960" cy="82296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4</a:t>
            </a:r>
            <a:endParaRPr lang="en-US" sz="2800" dirty="0"/>
          </a:p>
        </p:txBody>
      </p:sp>
      <p:sp>
        <p:nvSpPr>
          <p:cNvPr id="21" name="Text 19"/>
          <p:cNvSpPr/>
          <p:nvPr/>
        </p:nvSpPr>
        <p:spPr>
          <a:xfrm>
            <a:off x="7333488" y="3017520"/>
            <a:ext cx="2194560" cy="457200"/>
          </a:xfrm>
          <a:prstGeom prst="rect">
            <a:avLst/>
          </a:prstGeom>
          <a:noFill/>
          <a:ln/>
        </p:spPr>
        <p:txBody>
          <a:bodyPr wrap="square" rtlCol="0" anchor="ctr"/>
          <a:lstStyle/>
          <a:p>
            <a:pPr marL="0" indent="0" algn="ctr">
              <a:buNone/>
            </a:pPr>
            <a:r>
              <a:rPr lang="en-US" sz="1600" b="1" dirty="0">
                <a:solidFill>
                  <a:srgbClr val="264C41"/>
                </a:solidFill>
                <a:latin typeface="Cambria" pitchFamily="34" charset="0"/>
                <a:ea typeface="Cambria" pitchFamily="34" charset="-122"/>
                <a:cs typeface="Cambria" pitchFamily="34" charset="-120"/>
              </a:rPr>
              <a:t>Build dashboard</a:t>
            </a:r>
            <a:endParaRPr lang="en-US" sz="1600" dirty="0"/>
          </a:p>
        </p:txBody>
      </p:sp>
      <p:sp>
        <p:nvSpPr>
          <p:cNvPr id="22" name="Text 20"/>
          <p:cNvSpPr/>
          <p:nvPr/>
        </p:nvSpPr>
        <p:spPr>
          <a:xfrm>
            <a:off x="7379208" y="3520440"/>
            <a:ext cx="2103120" cy="1097280"/>
          </a:xfrm>
          <a:prstGeom prst="rect">
            <a:avLst/>
          </a:prstGeom>
          <a:noFill/>
          <a:ln/>
        </p:spPr>
        <p:txBody>
          <a:bodyPr wrap="square" rtlCol="0" anchor="ctr"/>
          <a:lstStyle/>
          <a:p>
            <a:pPr marL="0" indent="0" algn="ctr">
              <a:buNone/>
            </a:pPr>
            <a:r>
              <a:rPr lang="en-US" sz="1250" dirty="0">
                <a:solidFill>
                  <a:srgbClr val="2B2B28"/>
                </a:solidFill>
                <a:latin typeface="Calibri" pitchFamily="34" charset="0"/>
                <a:ea typeface="Calibri" pitchFamily="34" charset="-122"/>
                <a:cs typeface="Calibri" pitchFamily="34" charset="-120"/>
              </a:rPr>
              <a:t>Interactive Power BI with slicers &amp; drill-through</a:t>
            </a:r>
            <a:endParaRPr lang="en-US" sz="1250" dirty="0"/>
          </a:p>
        </p:txBody>
      </p:sp>
      <p:sp>
        <p:nvSpPr>
          <p:cNvPr id="23" name="Text 21"/>
          <p:cNvSpPr/>
          <p:nvPr/>
        </p:nvSpPr>
        <p:spPr>
          <a:xfrm>
            <a:off x="9070848" y="2148840"/>
            <a:ext cx="548640" cy="548640"/>
          </a:xfrm>
          <a:prstGeom prst="rect">
            <a:avLst/>
          </a:prstGeom>
          <a:noFill/>
          <a:ln/>
        </p:spPr>
        <p:txBody>
          <a:bodyPr wrap="square" rtlCol="0" anchor="ctr"/>
          <a:lstStyle/>
          <a:p>
            <a:pPr marL="0" indent="0" algn="ctr">
              <a:buNone/>
            </a:pPr>
            <a:r>
              <a:rPr lang="en-US" sz="2400" b="1" dirty="0">
                <a:solidFill>
                  <a:srgbClr val="6B8F71"/>
                </a:solidFill>
              </a:rPr>
              <a:t>→</a:t>
            </a:r>
            <a:endParaRPr lang="en-US" sz="2400" dirty="0"/>
          </a:p>
        </p:txBody>
      </p:sp>
      <p:sp>
        <p:nvSpPr>
          <p:cNvPr id="24" name="Shape 22"/>
          <p:cNvSpPr/>
          <p:nvPr/>
        </p:nvSpPr>
        <p:spPr>
          <a:xfrm>
            <a:off x="10250424" y="2011680"/>
            <a:ext cx="822960" cy="822960"/>
          </a:xfrm>
          <a:prstGeom prst="ellipse">
            <a:avLst/>
          </a:prstGeom>
          <a:solidFill>
            <a:srgbClr val="C97B4A"/>
          </a:solidFill>
          <a:ln/>
        </p:spPr>
        <p:txBody>
          <a:bodyPr/>
          <a:lstStyle/>
          <a:p>
            <a:endParaRPr lang="en-US"/>
          </a:p>
        </p:txBody>
      </p:sp>
      <p:sp>
        <p:nvSpPr>
          <p:cNvPr id="25" name="Text 23"/>
          <p:cNvSpPr/>
          <p:nvPr/>
        </p:nvSpPr>
        <p:spPr>
          <a:xfrm>
            <a:off x="10250424" y="2011680"/>
            <a:ext cx="822960" cy="82296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5</a:t>
            </a:r>
            <a:endParaRPr lang="en-US" sz="2800" dirty="0"/>
          </a:p>
        </p:txBody>
      </p:sp>
      <p:sp>
        <p:nvSpPr>
          <p:cNvPr id="26" name="Text 24"/>
          <p:cNvSpPr/>
          <p:nvPr/>
        </p:nvSpPr>
        <p:spPr>
          <a:xfrm>
            <a:off x="9564624" y="3017520"/>
            <a:ext cx="2194560" cy="457200"/>
          </a:xfrm>
          <a:prstGeom prst="rect">
            <a:avLst/>
          </a:prstGeom>
          <a:noFill/>
          <a:ln/>
        </p:spPr>
        <p:txBody>
          <a:bodyPr wrap="square" rtlCol="0" anchor="ctr"/>
          <a:lstStyle/>
          <a:p>
            <a:pPr marL="0" indent="0" algn="ctr">
              <a:buNone/>
            </a:pPr>
            <a:r>
              <a:rPr lang="en-US" sz="1600" b="1" dirty="0">
                <a:solidFill>
                  <a:srgbClr val="264C41"/>
                </a:solidFill>
                <a:latin typeface="Cambria" pitchFamily="34" charset="0"/>
                <a:ea typeface="Cambria" pitchFamily="34" charset="-122"/>
                <a:cs typeface="Cambria" pitchFamily="34" charset="-120"/>
              </a:rPr>
              <a:t>Recommend</a:t>
            </a:r>
            <a:endParaRPr lang="en-US" sz="1600" dirty="0"/>
          </a:p>
        </p:txBody>
      </p:sp>
      <p:sp>
        <p:nvSpPr>
          <p:cNvPr id="27" name="Text 25"/>
          <p:cNvSpPr/>
          <p:nvPr/>
        </p:nvSpPr>
        <p:spPr>
          <a:xfrm>
            <a:off x="9610344" y="3520440"/>
            <a:ext cx="2103120" cy="1097280"/>
          </a:xfrm>
          <a:prstGeom prst="rect">
            <a:avLst/>
          </a:prstGeom>
          <a:noFill/>
          <a:ln/>
        </p:spPr>
        <p:txBody>
          <a:bodyPr wrap="square" rtlCol="0" anchor="ctr"/>
          <a:lstStyle/>
          <a:p>
            <a:pPr marL="0" indent="0" algn="ctr">
              <a:buNone/>
            </a:pPr>
            <a:r>
              <a:rPr lang="en-US" sz="1250" dirty="0">
                <a:solidFill>
                  <a:srgbClr val="2B2B28"/>
                </a:solidFill>
                <a:latin typeface="Calibri" pitchFamily="34" charset="0"/>
                <a:ea typeface="Calibri" pitchFamily="34" charset="-122"/>
                <a:cs typeface="Calibri" pitchFamily="34" charset="-120"/>
              </a:rPr>
              <a:t>Quick wins + the tracking foundation</a:t>
            </a:r>
            <a:endParaRPr lang="en-US" sz="1250" dirty="0"/>
          </a:p>
        </p:txBody>
      </p:sp>
      <p:sp>
        <p:nvSpPr>
          <p:cNvPr id="28" name="Shape 26"/>
          <p:cNvSpPr/>
          <p:nvPr/>
        </p:nvSpPr>
        <p:spPr>
          <a:xfrm>
            <a:off x="822960" y="5029200"/>
            <a:ext cx="10515600" cy="1188720"/>
          </a:xfrm>
          <a:prstGeom prst="roundRect">
            <a:avLst>
              <a:gd name="adj" fmla="val 6154"/>
            </a:avLst>
          </a:prstGeom>
          <a:solidFill>
            <a:srgbClr val="F4F1EA"/>
          </a:solidFill>
          <a:ln w="12700">
            <a:solidFill>
              <a:srgbClr val="E2DAC9"/>
            </a:solidFill>
            <a:prstDash val="solid"/>
          </a:ln>
          <a:effectLst>
            <a:outerShdw blurRad="76200" dist="25400" dir="5400000" algn="bl" rotWithShape="0">
              <a:srgbClr val="BBBBBB">
                <a:alpha val="35000"/>
              </a:srgbClr>
            </a:outerShdw>
          </a:effectLst>
        </p:spPr>
        <p:txBody>
          <a:bodyPr/>
          <a:lstStyle/>
          <a:p>
            <a:endParaRPr lang="en-US"/>
          </a:p>
        </p:txBody>
      </p:sp>
      <p:sp>
        <p:nvSpPr>
          <p:cNvPr id="29" name="Text 27"/>
          <p:cNvSpPr/>
          <p:nvPr/>
        </p:nvSpPr>
        <p:spPr>
          <a:xfrm>
            <a:off x="1051560" y="5166360"/>
            <a:ext cx="10058400" cy="914400"/>
          </a:xfrm>
          <a:prstGeom prst="rect">
            <a:avLst/>
          </a:prstGeom>
          <a:noFill/>
          <a:ln/>
        </p:spPr>
        <p:txBody>
          <a:bodyPr wrap="square" rtlCol="0" anchor="ctr"/>
          <a:lstStyle/>
          <a:p>
            <a:pPr marL="0" indent="0">
              <a:buNone/>
            </a:pPr>
            <a:r>
              <a:rPr lang="en-US" sz="1450" b="1" dirty="0">
                <a:solidFill>
                  <a:srgbClr val="2F5D50"/>
                </a:solidFill>
                <a:latin typeface="Calibri" pitchFamily="34" charset="0"/>
                <a:ea typeface="Calibri" pitchFamily="34" charset="-122"/>
                <a:cs typeface="Calibri" pitchFamily="34" charset="-120"/>
              </a:rPr>
              <a:t>Tools kept deliberately light: </a:t>
            </a:r>
            <a:r>
              <a:rPr lang="en-US" sz="1450" dirty="0">
                <a:solidFill>
                  <a:srgbClr val="2B2B28"/>
                </a:solidFill>
                <a:latin typeface="Calibri" pitchFamily="34" charset="0"/>
                <a:ea typeface="Calibri" pitchFamily="34" charset="-122"/>
                <a:cs typeface="Calibri" pitchFamily="34" charset="-120"/>
              </a:rPr>
              <a:t>Excel &amp; Python for cleaning · Power BI for the model, DAX and dashboard · Word &amp; PowerPoint for reporting. Everything reproducible from a standard Shopify export — no paid connectors.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4C41"/>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73152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snapshot</a:t>
            </a:r>
            <a:endParaRPr lang="en-US" sz="3200" dirty="0"/>
          </a:p>
        </p:txBody>
      </p:sp>
      <p:sp>
        <p:nvSpPr>
          <p:cNvPr id="3" name="Text 1"/>
          <p:cNvSpPr/>
          <p:nvPr/>
        </p:nvSpPr>
        <p:spPr>
          <a:xfrm>
            <a:off x="658368" y="1188720"/>
            <a:ext cx="10972800" cy="365760"/>
          </a:xfrm>
          <a:prstGeom prst="rect">
            <a:avLst/>
          </a:prstGeom>
          <a:noFill/>
          <a:ln/>
        </p:spPr>
        <p:txBody>
          <a:bodyPr wrap="square" rtlCol="0" anchor="ctr"/>
          <a:lstStyle/>
          <a:p>
            <a:pPr marL="0" indent="0">
              <a:buNone/>
            </a:pPr>
            <a:r>
              <a:rPr lang="en-US" sz="1400" i="1" dirty="0">
                <a:solidFill>
                  <a:srgbClr val="E4C580"/>
                </a:solidFill>
                <a:latin typeface="Calibri" pitchFamily="34" charset="0"/>
                <a:ea typeface="Calibri" pitchFamily="34" charset="-122"/>
                <a:cs typeface="Calibri" pitchFamily="34" charset="-120"/>
              </a:rPr>
              <a:t>Apr 1 – Jul 13, 2026 · 151 revenue orders (14 test orders excluded) · USD</a:t>
            </a:r>
            <a:endParaRPr lang="en-US" sz="1400" dirty="0"/>
          </a:p>
        </p:txBody>
      </p:sp>
      <p:sp>
        <p:nvSpPr>
          <p:cNvPr id="4" name="Text 2"/>
          <p:cNvSpPr/>
          <p:nvPr/>
        </p:nvSpPr>
        <p:spPr>
          <a:xfrm>
            <a:off x="640080" y="2377440"/>
            <a:ext cx="2651760" cy="1005840"/>
          </a:xfrm>
          <a:prstGeom prst="rect">
            <a:avLst/>
          </a:prstGeom>
          <a:noFill/>
          <a:ln/>
        </p:spPr>
        <p:txBody>
          <a:bodyPr wrap="square" rtlCol="0" anchor="ctr"/>
          <a:lstStyle/>
          <a:p>
            <a:pPr marL="0" indent="0" algn="ctr">
              <a:buNone/>
            </a:pPr>
            <a:r>
              <a:rPr lang="en-US" sz="5200" b="1" dirty="0">
                <a:solidFill>
                  <a:srgbClr val="E4C580"/>
                </a:solidFill>
                <a:latin typeface="Cambria" pitchFamily="34" charset="0"/>
                <a:ea typeface="Cambria" pitchFamily="34" charset="-122"/>
                <a:cs typeface="Cambria" pitchFamily="34" charset="-120"/>
              </a:rPr>
              <a:t>$27,618</a:t>
            </a:r>
            <a:endParaRPr lang="en-US" sz="5200" dirty="0"/>
          </a:p>
        </p:txBody>
      </p:sp>
      <p:sp>
        <p:nvSpPr>
          <p:cNvPr id="5" name="Text 3"/>
          <p:cNvSpPr/>
          <p:nvPr/>
        </p:nvSpPr>
        <p:spPr>
          <a:xfrm>
            <a:off x="640080" y="3520440"/>
            <a:ext cx="2651760" cy="548640"/>
          </a:xfrm>
          <a:prstGeom prst="rect">
            <a:avLst/>
          </a:prstGeom>
          <a:noFill/>
          <a:ln/>
        </p:spPr>
        <p:txBody>
          <a:bodyPr wrap="square" rtlCol="0" anchor="ctr"/>
          <a:lstStyle/>
          <a:p>
            <a:pPr marL="0" indent="0" algn="ctr">
              <a:buNone/>
            </a:pPr>
            <a:r>
              <a:rPr lang="en-US" sz="1600" dirty="0">
                <a:solidFill>
                  <a:srgbClr val="CFE0D6"/>
                </a:solidFill>
                <a:latin typeface="Calibri" pitchFamily="34" charset="0"/>
                <a:ea typeface="Calibri" pitchFamily="34" charset="-122"/>
                <a:cs typeface="Calibri" pitchFamily="34" charset="-120"/>
              </a:rPr>
              <a:t>Total revenue</a:t>
            </a:r>
            <a:endParaRPr lang="en-US" sz="1600" dirty="0"/>
          </a:p>
        </p:txBody>
      </p:sp>
      <p:sp>
        <p:nvSpPr>
          <p:cNvPr id="6" name="Text 4"/>
          <p:cNvSpPr/>
          <p:nvPr/>
        </p:nvSpPr>
        <p:spPr>
          <a:xfrm>
            <a:off x="3429000" y="2377440"/>
            <a:ext cx="2651760" cy="1005840"/>
          </a:xfrm>
          <a:prstGeom prst="rect">
            <a:avLst/>
          </a:prstGeom>
          <a:noFill/>
          <a:ln/>
        </p:spPr>
        <p:txBody>
          <a:bodyPr wrap="square" rtlCol="0" anchor="ctr"/>
          <a:lstStyle/>
          <a:p>
            <a:pPr marL="0" indent="0" algn="ctr">
              <a:buNone/>
            </a:pPr>
            <a:r>
              <a:rPr lang="en-US" sz="5200" b="1" dirty="0">
                <a:solidFill>
                  <a:srgbClr val="E4C580"/>
                </a:solidFill>
                <a:latin typeface="Cambria" pitchFamily="34" charset="0"/>
                <a:ea typeface="Cambria" pitchFamily="34" charset="-122"/>
                <a:cs typeface="Cambria" pitchFamily="34" charset="-120"/>
              </a:rPr>
              <a:t>$101</a:t>
            </a:r>
            <a:endParaRPr lang="en-US" sz="5200" dirty="0"/>
          </a:p>
        </p:txBody>
      </p:sp>
      <p:sp>
        <p:nvSpPr>
          <p:cNvPr id="7" name="Text 5"/>
          <p:cNvSpPr/>
          <p:nvPr/>
        </p:nvSpPr>
        <p:spPr>
          <a:xfrm>
            <a:off x="3429000" y="3520440"/>
            <a:ext cx="2651760" cy="548640"/>
          </a:xfrm>
          <a:prstGeom prst="rect">
            <a:avLst/>
          </a:prstGeom>
          <a:noFill/>
          <a:ln/>
        </p:spPr>
        <p:txBody>
          <a:bodyPr wrap="square" rtlCol="0" anchor="ctr"/>
          <a:lstStyle/>
          <a:p>
            <a:pPr marL="0" indent="0" algn="ctr">
              <a:buNone/>
            </a:pPr>
            <a:r>
              <a:rPr lang="en-US" sz="1600" dirty="0">
                <a:solidFill>
                  <a:srgbClr val="CFE0D6"/>
                </a:solidFill>
                <a:latin typeface="Calibri" pitchFamily="34" charset="0"/>
                <a:ea typeface="Calibri" pitchFamily="34" charset="-122"/>
                <a:cs typeface="Calibri" pitchFamily="34" charset="-120"/>
              </a:rPr>
              <a:t>Median order value</a:t>
            </a:r>
            <a:endParaRPr lang="en-US" sz="1600" dirty="0"/>
          </a:p>
        </p:txBody>
      </p:sp>
      <p:sp>
        <p:nvSpPr>
          <p:cNvPr id="8" name="Text 6"/>
          <p:cNvSpPr/>
          <p:nvPr/>
        </p:nvSpPr>
        <p:spPr>
          <a:xfrm>
            <a:off x="6217920" y="2377440"/>
            <a:ext cx="2651760" cy="1005840"/>
          </a:xfrm>
          <a:prstGeom prst="rect">
            <a:avLst/>
          </a:prstGeom>
          <a:noFill/>
          <a:ln/>
        </p:spPr>
        <p:txBody>
          <a:bodyPr wrap="square" rtlCol="0" anchor="ctr"/>
          <a:lstStyle/>
          <a:p>
            <a:pPr marL="0" indent="0" algn="ctr">
              <a:buNone/>
            </a:pPr>
            <a:r>
              <a:rPr lang="en-US" sz="5200" b="1" dirty="0">
                <a:solidFill>
                  <a:srgbClr val="E4C580"/>
                </a:solidFill>
                <a:latin typeface="Cambria" pitchFamily="34" charset="0"/>
                <a:ea typeface="Cambria" pitchFamily="34" charset="-122"/>
                <a:cs typeface="Cambria" pitchFamily="34" charset="-120"/>
              </a:rPr>
              <a:t>14%</a:t>
            </a:r>
            <a:endParaRPr lang="en-US" sz="5200" dirty="0"/>
          </a:p>
        </p:txBody>
      </p:sp>
      <p:sp>
        <p:nvSpPr>
          <p:cNvPr id="9" name="Text 7"/>
          <p:cNvSpPr/>
          <p:nvPr/>
        </p:nvSpPr>
        <p:spPr>
          <a:xfrm>
            <a:off x="6217920" y="3520440"/>
            <a:ext cx="2651760" cy="548640"/>
          </a:xfrm>
          <a:prstGeom prst="rect">
            <a:avLst/>
          </a:prstGeom>
          <a:noFill/>
          <a:ln/>
        </p:spPr>
        <p:txBody>
          <a:bodyPr wrap="square" rtlCol="0" anchor="ctr"/>
          <a:lstStyle/>
          <a:p>
            <a:pPr marL="0" indent="0" algn="ctr">
              <a:buNone/>
            </a:pPr>
            <a:r>
              <a:rPr lang="en-US" sz="1600" dirty="0">
                <a:solidFill>
                  <a:srgbClr val="CFE0D6"/>
                </a:solidFill>
                <a:latin typeface="Calibri" pitchFamily="34" charset="0"/>
                <a:ea typeface="Calibri" pitchFamily="34" charset="-122"/>
                <a:cs typeface="Calibri" pitchFamily="34" charset="-120"/>
              </a:rPr>
              <a:t>Repeat-buyer rate</a:t>
            </a:r>
            <a:endParaRPr lang="en-US" sz="1600" dirty="0"/>
          </a:p>
        </p:txBody>
      </p:sp>
      <p:sp>
        <p:nvSpPr>
          <p:cNvPr id="10" name="Text 8"/>
          <p:cNvSpPr/>
          <p:nvPr/>
        </p:nvSpPr>
        <p:spPr>
          <a:xfrm>
            <a:off x="9006840" y="2377440"/>
            <a:ext cx="2651760" cy="1005840"/>
          </a:xfrm>
          <a:prstGeom prst="rect">
            <a:avLst/>
          </a:prstGeom>
          <a:noFill/>
          <a:ln/>
        </p:spPr>
        <p:txBody>
          <a:bodyPr wrap="square" rtlCol="0" anchor="ctr"/>
          <a:lstStyle/>
          <a:p>
            <a:pPr marL="0" indent="0" algn="ctr">
              <a:buNone/>
            </a:pPr>
            <a:r>
              <a:rPr lang="en-US" sz="5200" b="1" dirty="0">
                <a:solidFill>
                  <a:srgbClr val="E4C580"/>
                </a:solidFill>
                <a:latin typeface="Cambria" pitchFamily="34" charset="0"/>
                <a:ea typeface="Cambria" pitchFamily="34" charset="-122"/>
                <a:cs typeface="Cambria" pitchFamily="34" charset="-120"/>
              </a:rPr>
              <a:t>75%</a:t>
            </a:r>
            <a:endParaRPr lang="en-US" sz="5200" dirty="0"/>
          </a:p>
        </p:txBody>
      </p:sp>
      <p:sp>
        <p:nvSpPr>
          <p:cNvPr id="11" name="Text 9"/>
          <p:cNvSpPr/>
          <p:nvPr/>
        </p:nvSpPr>
        <p:spPr>
          <a:xfrm>
            <a:off x="9006840" y="3520440"/>
            <a:ext cx="2651760" cy="548640"/>
          </a:xfrm>
          <a:prstGeom prst="rect">
            <a:avLst/>
          </a:prstGeom>
          <a:noFill/>
          <a:ln/>
        </p:spPr>
        <p:txBody>
          <a:bodyPr wrap="square" rtlCol="0" anchor="ctr"/>
          <a:lstStyle/>
          <a:p>
            <a:pPr marL="0" indent="0" algn="ctr">
              <a:buNone/>
            </a:pPr>
            <a:r>
              <a:rPr lang="en-US" sz="1600" dirty="0">
                <a:solidFill>
                  <a:srgbClr val="CFE0D6"/>
                </a:solidFill>
                <a:latin typeface="Calibri" pitchFamily="34" charset="0"/>
                <a:ea typeface="Calibri" pitchFamily="34" charset="-122"/>
                <a:cs typeface="Calibri" pitchFamily="34" charset="-120"/>
              </a:rPr>
              <a:t>Orders ship to the U.S.</a:t>
            </a:r>
            <a:endParaRPr lang="en-US" sz="1600" dirty="0"/>
          </a:p>
        </p:txBody>
      </p:sp>
      <p:sp>
        <p:nvSpPr>
          <p:cNvPr id="12" name="Text 10"/>
          <p:cNvSpPr/>
          <p:nvPr/>
        </p:nvSpPr>
        <p:spPr>
          <a:xfrm>
            <a:off x="1097280" y="4937760"/>
            <a:ext cx="10058400" cy="731520"/>
          </a:xfrm>
          <a:prstGeom prst="rect">
            <a:avLst/>
          </a:prstGeom>
          <a:noFill/>
          <a:ln/>
        </p:spPr>
        <p:txBody>
          <a:bodyPr wrap="square" rtlCol="0" anchor="ctr"/>
          <a:lstStyle/>
          <a:p>
            <a:pPr marL="0" indent="0" algn="ctr">
              <a:buNone/>
            </a:pPr>
            <a:r>
              <a:rPr lang="en-US" sz="1700" i="1" dirty="0">
                <a:solidFill>
                  <a:srgbClr val="FFFFFF"/>
                </a:solidFill>
                <a:latin typeface="Calibri" pitchFamily="34" charset="0"/>
                <a:ea typeface="Calibri" pitchFamily="34" charset="-122"/>
                <a:cs typeface="Calibri" pitchFamily="34" charset="-120"/>
              </a:rPr>
              <a:t>Revenue is growing month over month — but it's early, and a couple of numbers below the surface matter more than the totals.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marL="0" indent="0" algn="l">
              <a:buNone/>
            </a:pPr>
            <a:r>
              <a:rPr lang="en-US" sz="3200" b="1" dirty="0">
                <a:solidFill>
                  <a:srgbClr val="264C41"/>
                </a:solidFill>
                <a:latin typeface="Cambria" pitchFamily="34" charset="0"/>
                <a:ea typeface="Cambria" pitchFamily="34" charset="-122"/>
                <a:cs typeface="Cambria" pitchFamily="34" charset="-120"/>
              </a:rPr>
              <a:t>Revenue climbed through the spring</a:t>
            </a:r>
            <a:endParaRPr lang="en-US" sz="3200" dirty="0"/>
          </a:p>
        </p:txBody>
      </p:sp>
      <p:sp>
        <p:nvSpPr>
          <p:cNvPr id="3" name="Text 1"/>
          <p:cNvSpPr/>
          <p:nvPr/>
        </p:nvSpPr>
        <p:spPr>
          <a:xfrm>
            <a:off x="658368" y="1115568"/>
            <a:ext cx="10972800" cy="365760"/>
          </a:xfrm>
          <a:prstGeom prst="rect">
            <a:avLst/>
          </a:prstGeom>
          <a:noFill/>
          <a:ln/>
        </p:spPr>
        <p:txBody>
          <a:bodyPr wrap="square" rtlCol="0" anchor="ctr"/>
          <a:lstStyle/>
          <a:p>
            <a:pPr marL="0" indent="0" algn="l">
              <a:buNone/>
            </a:pPr>
            <a:r>
              <a:rPr lang="en-US" sz="1400" i="1" dirty="0">
                <a:solidFill>
                  <a:srgbClr val="C97B4A"/>
                </a:solidFill>
                <a:latin typeface="Calibri" pitchFamily="34" charset="0"/>
                <a:ea typeface="Calibri" pitchFamily="34" charset="-122"/>
                <a:cs typeface="Calibri" pitchFamily="34" charset="-120"/>
              </a:rPr>
              <a:t>Steady April-to-June growth is the reliable signal</a:t>
            </a:r>
            <a:endParaRPr lang="en-US" sz="1400" dirty="0"/>
          </a:p>
        </p:txBody>
      </p:sp>
      <p:pic>
        <p:nvPicPr>
          <p:cNvPr id="4" name="Image 0" descr="charts/f1_monthly_rev.png"/>
          <p:cNvPicPr>
            <a:picLocks noChangeAspect="1"/>
          </p:cNvPicPr>
          <p:nvPr/>
        </p:nvPicPr>
        <p:blipFill>
          <a:blip r:embed="rId3"/>
          <a:stretch>
            <a:fillRect/>
          </a:stretch>
        </p:blipFill>
        <p:spPr>
          <a:xfrm>
            <a:off x="640080" y="1737360"/>
            <a:ext cx="6583680" cy="3602736"/>
          </a:xfrm>
          <a:prstGeom prst="rect">
            <a:avLst/>
          </a:prstGeom>
        </p:spPr>
      </p:pic>
      <p:sp>
        <p:nvSpPr>
          <p:cNvPr id="5" name="Shape 2"/>
          <p:cNvSpPr/>
          <p:nvPr/>
        </p:nvSpPr>
        <p:spPr>
          <a:xfrm>
            <a:off x="7589520" y="1920240"/>
            <a:ext cx="3931920" cy="3200400"/>
          </a:xfrm>
          <a:prstGeom prst="roundRect">
            <a:avLst>
              <a:gd name="adj" fmla="val 2286"/>
            </a:avLst>
          </a:prstGeom>
          <a:solidFill>
            <a:srgbClr val="F4F1EA"/>
          </a:solidFill>
          <a:ln w="12700">
            <a:solidFill>
              <a:srgbClr val="E2DAC9"/>
            </a:solidFill>
            <a:prstDash val="solid"/>
          </a:ln>
          <a:effectLst>
            <a:outerShdw blurRad="76200" dist="25400" dir="5400000" algn="bl" rotWithShape="0">
              <a:srgbClr val="BBBBBB">
                <a:alpha val="35000"/>
              </a:srgbClr>
            </a:outerShdw>
          </a:effectLst>
        </p:spPr>
        <p:txBody>
          <a:bodyPr/>
          <a:lstStyle/>
          <a:p>
            <a:endParaRPr lang="en-US"/>
          </a:p>
        </p:txBody>
      </p:sp>
      <p:sp>
        <p:nvSpPr>
          <p:cNvPr id="6" name="Text 3"/>
          <p:cNvSpPr/>
          <p:nvPr/>
        </p:nvSpPr>
        <p:spPr>
          <a:xfrm>
            <a:off x="7818120" y="2103120"/>
            <a:ext cx="3474720" cy="365760"/>
          </a:xfrm>
          <a:prstGeom prst="rect">
            <a:avLst/>
          </a:prstGeom>
          <a:noFill/>
          <a:ln/>
        </p:spPr>
        <p:txBody>
          <a:bodyPr wrap="square" rtlCol="0" anchor="ctr"/>
          <a:lstStyle/>
          <a:p>
            <a:pPr marL="0" indent="0">
              <a:buNone/>
            </a:pPr>
            <a:r>
              <a:rPr lang="en-US" sz="1800" b="1" dirty="0">
                <a:solidFill>
                  <a:srgbClr val="2F5D50"/>
                </a:solidFill>
                <a:latin typeface="Cambria" pitchFamily="34" charset="0"/>
                <a:ea typeface="Cambria" pitchFamily="34" charset="-122"/>
                <a:cs typeface="Cambria" pitchFamily="34" charset="-120"/>
              </a:rPr>
              <a:t>What it means</a:t>
            </a:r>
            <a:endParaRPr lang="en-US" sz="1800" dirty="0"/>
          </a:p>
        </p:txBody>
      </p:sp>
      <p:sp>
        <p:nvSpPr>
          <p:cNvPr id="7" name="Text 4"/>
          <p:cNvSpPr/>
          <p:nvPr/>
        </p:nvSpPr>
        <p:spPr>
          <a:xfrm>
            <a:off x="7863840" y="2560320"/>
            <a:ext cx="3429000" cy="2377440"/>
          </a:xfrm>
          <a:prstGeom prst="rect">
            <a:avLst/>
          </a:prstGeom>
          <a:noFill/>
          <a:ln/>
        </p:spPr>
        <p:txBody>
          <a:bodyPr wrap="square" rtlCol="0" anchor="ctr"/>
          <a:lstStyle/>
          <a:p>
            <a:pPr marL="342900" indent="-342900">
              <a:spcAft>
                <a:spcPts val="800"/>
              </a:spcAft>
              <a:buSzPct val="100000"/>
              <a:buChar char="•"/>
            </a:pPr>
            <a:r>
              <a:rPr lang="en-US" sz="1400" dirty="0">
                <a:solidFill>
                  <a:srgbClr val="2B2B28"/>
                </a:solidFill>
                <a:latin typeface="Calibri" pitchFamily="34" charset="0"/>
                <a:ea typeface="Calibri" pitchFamily="34" charset="-122"/>
                <a:cs typeface="Calibri" pitchFamily="34" charset="-120"/>
              </a:rPr>
              <a:t>Apr → Jun grew steadily: $2.3k → $7.9k → $7.4k</a:t>
            </a:r>
            <a:endParaRPr lang="en-US" sz="1400" dirty="0"/>
          </a:p>
          <a:p>
            <a:pPr marL="342900" indent="-342900">
              <a:spcAft>
                <a:spcPts val="800"/>
              </a:spcAft>
              <a:buSzPct val="100000"/>
              <a:buChar char="•"/>
            </a:pPr>
            <a:r>
              <a:rPr lang="en-US" sz="1400" dirty="0">
                <a:solidFill>
                  <a:srgbClr val="2B2B28"/>
                </a:solidFill>
                <a:latin typeface="Calibri" pitchFamily="34" charset="0"/>
                <a:ea typeface="Calibri" pitchFamily="34" charset="-122"/>
                <a:cs typeface="Calibri" pitchFamily="34" charset="-120"/>
              </a:rPr>
              <a:t>July looks highest, but it's a partial month (through the 13th)…</a:t>
            </a:r>
            <a:endParaRPr lang="en-US" sz="1400" dirty="0"/>
          </a:p>
          <a:p>
            <a:pPr marL="342900" indent="-342900">
              <a:spcAft>
                <a:spcPts val="800"/>
              </a:spcAft>
              <a:buSzPct val="100000"/>
              <a:buChar char="•"/>
            </a:pPr>
            <a:r>
              <a:rPr lang="en-US" sz="1400" dirty="0">
                <a:solidFill>
                  <a:srgbClr val="2B2B28"/>
                </a:solidFill>
                <a:latin typeface="Calibri" pitchFamily="34" charset="0"/>
                <a:ea typeface="Calibri" pitchFamily="34" charset="-122"/>
                <a:cs typeface="Calibri" pitchFamily="34" charset="-120"/>
              </a:rPr>
              <a:t>…and inflated by one $5,963 bulk order</a:t>
            </a:r>
            <a:endParaRPr lang="en-US" sz="1400" dirty="0"/>
          </a:p>
          <a:p>
            <a:pPr marL="342900" indent="-342900">
              <a:buSzPct val="100000"/>
              <a:buChar char="•"/>
            </a:pPr>
            <a:r>
              <a:rPr lang="en-US" sz="1400" dirty="0">
                <a:solidFill>
                  <a:srgbClr val="2B2B28"/>
                </a:solidFill>
                <a:latin typeface="Calibri" pitchFamily="34" charset="0"/>
                <a:ea typeface="Calibri" pitchFamily="34" charset="-122"/>
                <a:cs typeface="Calibri" pitchFamily="34" charset="-120"/>
              </a:rPr>
              <a:t>Read the spring climb as momentum, not July as a spike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marL="0" indent="0" algn="l">
              <a:buNone/>
            </a:pPr>
            <a:r>
              <a:rPr lang="en-US" sz="3200" b="1" dirty="0">
                <a:solidFill>
                  <a:srgbClr val="264C41"/>
                </a:solidFill>
                <a:latin typeface="Cambria" pitchFamily="34" charset="0"/>
                <a:ea typeface="Cambria" pitchFamily="34" charset="-122"/>
                <a:cs typeface="Cambria" pitchFamily="34" charset="-120"/>
              </a:rPr>
              <a:t>The average hides the typical order</a:t>
            </a:r>
            <a:endParaRPr lang="en-US" sz="3200" dirty="0"/>
          </a:p>
        </p:txBody>
      </p:sp>
      <p:sp>
        <p:nvSpPr>
          <p:cNvPr id="3" name="Text 1"/>
          <p:cNvSpPr/>
          <p:nvPr/>
        </p:nvSpPr>
        <p:spPr>
          <a:xfrm>
            <a:off x="658368" y="1115568"/>
            <a:ext cx="10972800" cy="365760"/>
          </a:xfrm>
          <a:prstGeom prst="rect">
            <a:avLst/>
          </a:prstGeom>
          <a:noFill/>
          <a:ln/>
        </p:spPr>
        <p:txBody>
          <a:bodyPr wrap="square" rtlCol="0" anchor="ctr"/>
          <a:lstStyle/>
          <a:p>
            <a:pPr marL="0" indent="0" algn="l">
              <a:buNone/>
            </a:pPr>
            <a:r>
              <a:rPr lang="en-US" sz="1400" i="1" dirty="0">
                <a:solidFill>
                  <a:srgbClr val="C97B4A"/>
                </a:solidFill>
                <a:latin typeface="Calibri" pitchFamily="34" charset="0"/>
                <a:ea typeface="Calibri" pitchFamily="34" charset="-122"/>
                <a:cs typeface="Calibri" pitchFamily="34" charset="-120"/>
              </a:rPr>
              <a:t>Why we report the median, not the mean</a:t>
            </a:r>
            <a:endParaRPr lang="en-US" sz="1400" dirty="0"/>
          </a:p>
        </p:txBody>
      </p:sp>
      <p:pic>
        <p:nvPicPr>
          <p:cNvPr id="4" name="Image 0" descr="charts/f2_dist.png"/>
          <p:cNvPicPr>
            <a:picLocks noChangeAspect="1"/>
          </p:cNvPicPr>
          <p:nvPr/>
        </p:nvPicPr>
        <p:blipFill>
          <a:blip r:embed="rId3"/>
          <a:stretch>
            <a:fillRect/>
          </a:stretch>
        </p:blipFill>
        <p:spPr>
          <a:xfrm>
            <a:off x="640080" y="1737360"/>
            <a:ext cx="6583680" cy="3602736"/>
          </a:xfrm>
          <a:prstGeom prst="rect">
            <a:avLst/>
          </a:prstGeom>
        </p:spPr>
      </p:pic>
      <p:sp>
        <p:nvSpPr>
          <p:cNvPr id="5" name="Text 2"/>
          <p:cNvSpPr/>
          <p:nvPr/>
        </p:nvSpPr>
        <p:spPr>
          <a:xfrm>
            <a:off x="7772400" y="2011680"/>
            <a:ext cx="1737360" cy="822960"/>
          </a:xfrm>
          <a:prstGeom prst="rect">
            <a:avLst/>
          </a:prstGeom>
          <a:noFill/>
          <a:ln/>
        </p:spPr>
        <p:txBody>
          <a:bodyPr wrap="square" rtlCol="0" anchor="ctr"/>
          <a:lstStyle/>
          <a:p>
            <a:pPr marL="0" indent="0" algn="ctr">
              <a:buNone/>
            </a:pPr>
            <a:r>
              <a:rPr lang="en-US" sz="4400" b="1" dirty="0">
                <a:solidFill>
                  <a:srgbClr val="7D7460"/>
                </a:solidFill>
                <a:latin typeface="Cambria" pitchFamily="34" charset="0"/>
                <a:ea typeface="Cambria" pitchFamily="34" charset="-122"/>
                <a:cs typeface="Cambria" pitchFamily="34" charset="-120"/>
              </a:rPr>
              <a:t>$183</a:t>
            </a:r>
            <a:endParaRPr lang="en-US" sz="4400" dirty="0"/>
          </a:p>
        </p:txBody>
      </p:sp>
      <p:sp>
        <p:nvSpPr>
          <p:cNvPr id="6" name="Text 3"/>
          <p:cNvSpPr/>
          <p:nvPr/>
        </p:nvSpPr>
        <p:spPr>
          <a:xfrm>
            <a:off x="7772400" y="2788920"/>
            <a:ext cx="1737360" cy="365760"/>
          </a:xfrm>
          <a:prstGeom prst="rect">
            <a:avLst/>
          </a:prstGeom>
          <a:noFill/>
          <a:ln/>
        </p:spPr>
        <p:txBody>
          <a:bodyPr wrap="square" rtlCol="0" anchor="ctr"/>
          <a:lstStyle/>
          <a:p>
            <a:pPr marL="0" indent="0" algn="ctr">
              <a:buNone/>
            </a:pPr>
            <a:r>
              <a:rPr lang="en-US" sz="1400" dirty="0">
                <a:solidFill>
                  <a:srgbClr val="7D7460"/>
                </a:solidFill>
                <a:latin typeface="Calibri" pitchFamily="34" charset="0"/>
                <a:ea typeface="Calibri" pitchFamily="34" charset="-122"/>
                <a:cs typeface="Calibri" pitchFamily="34" charset="-120"/>
              </a:rPr>
              <a:t>mean</a:t>
            </a:r>
            <a:endParaRPr lang="en-US" sz="1400" dirty="0"/>
          </a:p>
        </p:txBody>
      </p:sp>
      <p:sp>
        <p:nvSpPr>
          <p:cNvPr id="7" name="Text 4"/>
          <p:cNvSpPr/>
          <p:nvPr/>
        </p:nvSpPr>
        <p:spPr>
          <a:xfrm>
            <a:off x="9601200" y="2011680"/>
            <a:ext cx="1737360" cy="822960"/>
          </a:xfrm>
          <a:prstGeom prst="rect">
            <a:avLst/>
          </a:prstGeom>
          <a:noFill/>
          <a:ln/>
        </p:spPr>
        <p:txBody>
          <a:bodyPr wrap="square" rtlCol="0" anchor="ctr"/>
          <a:lstStyle/>
          <a:p>
            <a:pPr marL="0" indent="0" algn="ctr">
              <a:buNone/>
            </a:pPr>
            <a:r>
              <a:rPr lang="en-US" sz="4400" b="1" dirty="0">
                <a:solidFill>
                  <a:srgbClr val="2F5D50"/>
                </a:solidFill>
                <a:latin typeface="Cambria" pitchFamily="34" charset="0"/>
                <a:ea typeface="Cambria" pitchFamily="34" charset="-122"/>
                <a:cs typeface="Cambria" pitchFamily="34" charset="-120"/>
              </a:rPr>
              <a:t>$101</a:t>
            </a:r>
            <a:endParaRPr lang="en-US" sz="4400" dirty="0"/>
          </a:p>
        </p:txBody>
      </p:sp>
      <p:sp>
        <p:nvSpPr>
          <p:cNvPr id="8" name="Text 5"/>
          <p:cNvSpPr/>
          <p:nvPr/>
        </p:nvSpPr>
        <p:spPr>
          <a:xfrm>
            <a:off x="9601200" y="2788920"/>
            <a:ext cx="1737360" cy="365760"/>
          </a:xfrm>
          <a:prstGeom prst="rect">
            <a:avLst/>
          </a:prstGeom>
          <a:noFill/>
          <a:ln/>
        </p:spPr>
        <p:txBody>
          <a:bodyPr wrap="square" rtlCol="0" anchor="ctr"/>
          <a:lstStyle/>
          <a:p>
            <a:pPr marL="0" indent="0" algn="ctr">
              <a:buNone/>
            </a:pPr>
            <a:r>
              <a:rPr lang="en-US" sz="1400" dirty="0">
                <a:solidFill>
                  <a:srgbClr val="2F5D50"/>
                </a:solidFill>
                <a:latin typeface="Calibri" pitchFamily="34" charset="0"/>
                <a:ea typeface="Calibri" pitchFamily="34" charset="-122"/>
                <a:cs typeface="Calibri" pitchFamily="34" charset="-120"/>
              </a:rPr>
              <a:t>median</a:t>
            </a:r>
            <a:endParaRPr lang="en-US" sz="1400" dirty="0"/>
          </a:p>
        </p:txBody>
      </p:sp>
      <p:sp>
        <p:nvSpPr>
          <p:cNvPr id="9" name="Shape 6"/>
          <p:cNvSpPr/>
          <p:nvPr/>
        </p:nvSpPr>
        <p:spPr>
          <a:xfrm>
            <a:off x="7589520" y="3474720"/>
            <a:ext cx="3931920" cy="1737360"/>
          </a:xfrm>
          <a:prstGeom prst="roundRect">
            <a:avLst>
              <a:gd name="adj" fmla="val 4211"/>
            </a:avLst>
          </a:prstGeom>
          <a:solidFill>
            <a:srgbClr val="F4F1EA"/>
          </a:solidFill>
          <a:ln w="12700">
            <a:solidFill>
              <a:srgbClr val="E2DAC9"/>
            </a:solidFill>
            <a:prstDash val="solid"/>
          </a:ln>
          <a:effectLst>
            <a:outerShdw blurRad="76200" dist="25400" dir="5400000" algn="bl" rotWithShape="0">
              <a:srgbClr val="BBBBBB">
                <a:alpha val="35000"/>
              </a:srgbClr>
            </a:outerShdw>
          </a:effectLst>
        </p:spPr>
        <p:txBody>
          <a:bodyPr/>
          <a:lstStyle/>
          <a:p>
            <a:endParaRPr lang="en-US"/>
          </a:p>
        </p:txBody>
      </p:sp>
      <p:sp>
        <p:nvSpPr>
          <p:cNvPr id="10" name="Text 7"/>
          <p:cNvSpPr/>
          <p:nvPr/>
        </p:nvSpPr>
        <p:spPr>
          <a:xfrm>
            <a:off x="7863840" y="3639312"/>
            <a:ext cx="3429000" cy="1463040"/>
          </a:xfrm>
          <a:prstGeom prst="rect">
            <a:avLst/>
          </a:prstGeom>
          <a:noFill/>
          <a:ln/>
        </p:spPr>
        <p:txBody>
          <a:bodyPr wrap="square" rtlCol="0" anchor="ctr"/>
          <a:lstStyle/>
          <a:p>
            <a:pPr marL="0" indent="0">
              <a:buNone/>
            </a:pPr>
            <a:r>
              <a:rPr lang="en-US" sz="1400" dirty="0">
                <a:solidFill>
                  <a:srgbClr val="2B2B28"/>
                </a:solidFill>
                <a:latin typeface="Calibri" pitchFamily="34" charset="0"/>
                <a:ea typeface="Calibri" pitchFamily="34" charset="-122"/>
                <a:cs typeface="Calibri" pitchFamily="34" charset="-120"/>
              </a:rPr>
              <a:t>Most orders fall between $50 and $200. A thin tail of large orders drags the average up — so the $101 median is the number to watch. The mean lurches every time a wholesale-style order lands.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marL="0" indent="0" algn="l">
              <a:buNone/>
            </a:pPr>
            <a:r>
              <a:rPr lang="en-US" sz="3200" b="1" dirty="0">
                <a:solidFill>
                  <a:srgbClr val="264C41"/>
                </a:solidFill>
                <a:latin typeface="Cambria" pitchFamily="34" charset="0"/>
                <a:ea typeface="Cambria" pitchFamily="34" charset="-122"/>
                <a:cs typeface="Cambria" pitchFamily="34" charset="-120"/>
              </a:rPr>
              <a:t>A few categories carry the revenue</a:t>
            </a:r>
            <a:endParaRPr lang="en-US" sz="3200" dirty="0"/>
          </a:p>
        </p:txBody>
      </p:sp>
      <p:sp>
        <p:nvSpPr>
          <p:cNvPr id="3" name="Text 1"/>
          <p:cNvSpPr/>
          <p:nvPr/>
        </p:nvSpPr>
        <p:spPr>
          <a:xfrm>
            <a:off x="658368" y="1115568"/>
            <a:ext cx="10972800" cy="365760"/>
          </a:xfrm>
          <a:prstGeom prst="rect">
            <a:avLst/>
          </a:prstGeom>
          <a:noFill/>
          <a:ln/>
        </p:spPr>
        <p:txBody>
          <a:bodyPr wrap="square" rtlCol="0" anchor="ctr"/>
          <a:lstStyle/>
          <a:p>
            <a:pPr marL="0" indent="0" algn="l">
              <a:buNone/>
            </a:pPr>
            <a:r>
              <a:rPr lang="en-US" sz="1400" i="1" dirty="0">
                <a:solidFill>
                  <a:srgbClr val="C97B4A"/>
                </a:solidFill>
                <a:latin typeface="Calibri" pitchFamily="34" charset="0"/>
                <a:ea typeface="Calibri" pitchFamily="34" charset="-122"/>
                <a:cs typeface="Calibri" pitchFamily="34" charset="-120"/>
              </a:rPr>
              <a:t>Tops and Diaper Covers lead — read as directional</a:t>
            </a:r>
            <a:endParaRPr lang="en-US" sz="1400" dirty="0"/>
          </a:p>
        </p:txBody>
      </p:sp>
      <p:pic>
        <p:nvPicPr>
          <p:cNvPr id="4" name="Image 0" descr="charts/f3_ptype.png"/>
          <p:cNvPicPr>
            <a:picLocks noChangeAspect="1"/>
          </p:cNvPicPr>
          <p:nvPr/>
        </p:nvPicPr>
        <p:blipFill>
          <a:blip r:embed="rId3"/>
          <a:stretch>
            <a:fillRect/>
          </a:stretch>
        </p:blipFill>
        <p:spPr>
          <a:xfrm>
            <a:off x="640080" y="1737360"/>
            <a:ext cx="6583680" cy="3602736"/>
          </a:xfrm>
          <a:prstGeom prst="rect">
            <a:avLst/>
          </a:prstGeom>
        </p:spPr>
      </p:pic>
      <p:sp>
        <p:nvSpPr>
          <p:cNvPr id="5" name="Shape 2"/>
          <p:cNvSpPr/>
          <p:nvPr/>
        </p:nvSpPr>
        <p:spPr>
          <a:xfrm>
            <a:off x="7589520" y="1920240"/>
            <a:ext cx="3931920" cy="3200400"/>
          </a:xfrm>
          <a:prstGeom prst="roundRect">
            <a:avLst>
              <a:gd name="adj" fmla="val 2286"/>
            </a:avLst>
          </a:prstGeom>
          <a:solidFill>
            <a:srgbClr val="F4F1EA"/>
          </a:solidFill>
          <a:ln w="12700">
            <a:solidFill>
              <a:srgbClr val="E2DAC9"/>
            </a:solidFill>
            <a:prstDash val="solid"/>
          </a:ln>
          <a:effectLst>
            <a:outerShdw blurRad="76200" dist="25400" dir="5400000" algn="bl" rotWithShape="0">
              <a:srgbClr val="BBBBBB">
                <a:alpha val="35000"/>
              </a:srgbClr>
            </a:outerShdw>
          </a:effectLst>
        </p:spPr>
        <p:txBody>
          <a:bodyPr/>
          <a:lstStyle/>
          <a:p>
            <a:endParaRPr lang="en-US"/>
          </a:p>
        </p:txBody>
      </p:sp>
      <p:sp>
        <p:nvSpPr>
          <p:cNvPr id="6" name="Text 3"/>
          <p:cNvSpPr/>
          <p:nvPr/>
        </p:nvSpPr>
        <p:spPr>
          <a:xfrm>
            <a:off x="7818120" y="2103120"/>
            <a:ext cx="3474720" cy="365760"/>
          </a:xfrm>
          <a:prstGeom prst="rect">
            <a:avLst/>
          </a:prstGeom>
          <a:noFill/>
          <a:ln/>
        </p:spPr>
        <p:txBody>
          <a:bodyPr wrap="square" rtlCol="0" anchor="ctr"/>
          <a:lstStyle/>
          <a:p>
            <a:pPr marL="0" indent="0">
              <a:buNone/>
            </a:pPr>
            <a:r>
              <a:rPr lang="en-US" sz="1800" b="1" dirty="0">
                <a:solidFill>
                  <a:srgbClr val="2F5D50"/>
                </a:solidFill>
                <a:latin typeface="Cambria" pitchFamily="34" charset="0"/>
                <a:ea typeface="Cambria" pitchFamily="34" charset="-122"/>
                <a:cs typeface="Cambria" pitchFamily="34" charset="-120"/>
              </a:rPr>
              <a:t>Takeaways</a:t>
            </a:r>
            <a:endParaRPr lang="en-US" sz="1800" dirty="0"/>
          </a:p>
        </p:txBody>
      </p:sp>
      <p:sp>
        <p:nvSpPr>
          <p:cNvPr id="7" name="Text 4"/>
          <p:cNvSpPr/>
          <p:nvPr/>
        </p:nvSpPr>
        <p:spPr>
          <a:xfrm>
            <a:off x="7863840" y="2560320"/>
            <a:ext cx="3429000" cy="2377440"/>
          </a:xfrm>
          <a:prstGeom prst="rect">
            <a:avLst/>
          </a:prstGeom>
          <a:noFill/>
          <a:ln/>
        </p:spPr>
        <p:txBody>
          <a:bodyPr wrap="square" rtlCol="0" anchor="ctr"/>
          <a:lstStyle/>
          <a:p>
            <a:pPr marL="342900" indent="-342900">
              <a:spcAft>
                <a:spcPts val="800"/>
              </a:spcAft>
              <a:buSzPct val="100000"/>
              <a:buChar char="•"/>
            </a:pPr>
            <a:r>
              <a:rPr lang="en-US" sz="1400" dirty="0">
                <a:solidFill>
                  <a:srgbClr val="2B2B28"/>
                </a:solidFill>
                <a:latin typeface="Calibri" pitchFamily="34" charset="0"/>
                <a:ea typeface="Calibri" pitchFamily="34" charset="-122"/>
                <a:cs typeface="Calibri" pitchFamily="34" charset="-120"/>
              </a:rPr>
              <a:t>Tops (~$5.0k) and Diaper Covers (~$4.0k) are the clear leaders</a:t>
            </a:r>
            <a:endParaRPr lang="en-US" sz="1400" dirty="0"/>
          </a:p>
          <a:p>
            <a:pPr marL="342900" indent="-342900">
              <a:spcAft>
                <a:spcPts val="800"/>
              </a:spcAft>
              <a:buSzPct val="100000"/>
              <a:buChar char="•"/>
            </a:pPr>
            <a:r>
              <a:rPr lang="en-US" sz="1400" dirty="0">
                <a:solidFill>
                  <a:srgbClr val="2B2B28"/>
                </a:solidFill>
                <a:latin typeface="Calibri" pitchFamily="34" charset="0"/>
                <a:ea typeface="Calibri" pitchFamily="34" charset="-122"/>
                <a:cs typeface="Calibri" pitchFamily="34" charset="-120"/>
              </a:rPr>
              <a:t>Sweaters and Bottoms follow close behind</a:t>
            </a:r>
            <a:endParaRPr lang="en-US" sz="1400" dirty="0"/>
          </a:p>
          <a:p>
            <a:pPr marL="342900" indent="-342900">
              <a:spcAft>
                <a:spcPts val="800"/>
              </a:spcAft>
              <a:buSzPct val="100000"/>
              <a:buChar char="•"/>
            </a:pPr>
            <a:r>
              <a:rPr lang="en-US" sz="1400" dirty="0">
                <a:solidFill>
                  <a:srgbClr val="2B2B28"/>
                </a:solidFill>
                <a:latin typeface="Calibri" pitchFamily="34" charset="0"/>
                <a:ea typeface="Calibri" pitchFamily="34" charset="-122"/>
                <a:cs typeface="Calibri" pitchFamily="34" charset="-120"/>
              </a:rPr>
              <a:t>Only ~54% of items matched the catalog, so this is directional</a:t>
            </a:r>
            <a:endParaRPr lang="en-US" sz="1400" dirty="0"/>
          </a:p>
          <a:p>
            <a:pPr marL="342900" indent="-342900">
              <a:buSzPct val="100000"/>
              <a:buChar char="•"/>
            </a:pPr>
            <a:r>
              <a:rPr lang="en-US" sz="1400" dirty="0">
                <a:solidFill>
                  <a:srgbClr val="2B2B28"/>
                </a:solidFill>
                <a:latin typeface="Calibri" pitchFamily="34" charset="0"/>
                <a:ea typeface="Calibri" pitchFamily="34" charset="-122"/>
                <a:cs typeface="Calibri" pitchFamily="34" charset="-120"/>
              </a:rPr>
              <a:t>Still: a small set of categories does most of the work</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64C41"/>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7315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biggest opportunity: retention</a:t>
            </a:r>
            <a:endParaRPr lang="en-US" sz="3000" dirty="0"/>
          </a:p>
        </p:txBody>
      </p:sp>
      <p:pic>
        <p:nvPicPr>
          <p:cNvPr id="3" name="Image 0" descr="charts/f4_segments.png"/>
          <p:cNvPicPr>
            <a:picLocks noChangeAspect="1"/>
          </p:cNvPicPr>
          <p:nvPr/>
        </p:nvPicPr>
        <p:blipFill>
          <a:blip r:embed="rId3"/>
          <a:stretch>
            <a:fillRect/>
          </a:stretch>
        </p:blipFill>
        <p:spPr>
          <a:xfrm>
            <a:off x="548640" y="1554480"/>
            <a:ext cx="6035040" cy="3291840"/>
          </a:xfrm>
          <a:prstGeom prst="rect">
            <a:avLst/>
          </a:prstGeom>
        </p:spPr>
      </p:pic>
      <p:sp>
        <p:nvSpPr>
          <p:cNvPr id="4" name="Text 1"/>
          <p:cNvSpPr/>
          <p:nvPr/>
        </p:nvSpPr>
        <p:spPr>
          <a:xfrm>
            <a:off x="6949440" y="1737360"/>
            <a:ext cx="4389120" cy="1188720"/>
          </a:xfrm>
          <a:prstGeom prst="rect">
            <a:avLst/>
          </a:prstGeom>
          <a:noFill/>
          <a:ln/>
        </p:spPr>
        <p:txBody>
          <a:bodyPr wrap="square" rtlCol="0" anchor="ctr"/>
          <a:lstStyle/>
          <a:p>
            <a:pPr marL="0" indent="0">
              <a:buNone/>
            </a:pPr>
            <a:r>
              <a:rPr lang="en-US" sz="8000" b="1" dirty="0">
                <a:solidFill>
                  <a:srgbClr val="E4C580"/>
                </a:solidFill>
                <a:latin typeface="Cambria" pitchFamily="34" charset="0"/>
                <a:ea typeface="Cambria" pitchFamily="34" charset="-122"/>
                <a:cs typeface="Cambria" pitchFamily="34" charset="-120"/>
              </a:rPr>
              <a:t>14%</a:t>
            </a:r>
            <a:endParaRPr lang="en-US" sz="8000" dirty="0"/>
          </a:p>
        </p:txBody>
      </p:sp>
      <p:sp>
        <p:nvSpPr>
          <p:cNvPr id="5" name="Text 2"/>
          <p:cNvSpPr/>
          <p:nvPr/>
        </p:nvSpPr>
        <p:spPr>
          <a:xfrm>
            <a:off x="6995160" y="2926080"/>
            <a:ext cx="4572000" cy="548640"/>
          </a:xfrm>
          <a:prstGeom prst="rect">
            <a:avLst/>
          </a:prstGeom>
          <a:noFill/>
          <a:ln/>
        </p:spPr>
        <p:txBody>
          <a:bodyPr wrap="square" rtlCol="0" anchor="ctr"/>
          <a:lstStyle/>
          <a:p>
            <a:pPr marL="0" indent="0">
              <a:buNone/>
            </a:pPr>
            <a:r>
              <a:rPr lang="en-US" sz="1600" dirty="0">
                <a:solidFill>
                  <a:srgbClr val="CFE0D6"/>
                </a:solidFill>
                <a:latin typeface="Calibri" pitchFamily="34" charset="0"/>
                <a:ea typeface="Calibri" pitchFamily="34" charset="-122"/>
                <a:cs typeface="Calibri" pitchFamily="34" charset="-120"/>
              </a:rPr>
              <a:t>of buyers come back for a second order  (18 of 128)</a:t>
            </a:r>
            <a:endParaRPr lang="en-US" sz="1600" dirty="0"/>
          </a:p>
        </p:txBody>
      </p:sp>
      <p:sp>
        <p:nvSpPr>
          <p:cNvPr id="6" name="Text 3"/>
          <p:cNvSpPr/>
          <p:nvPr/>
        </p:nvSpPr>
        <p:spPr>
          <a:xfrm>
            <a:off x="6995160" y="3611880"/>
            <a:ext cx="4572000" cy="1463040"/>
          </a:xfrm>
          <a:prstGeom prst="rect">
            <a:avLst/>
          </a:prstGeom>
          <a:noFill/>
          <a:ln/>
        </p:spPr>
        <p:txBody>
          <a:bodyPr wrap="square"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Repeat customers are far cheaper to sell to than new ones. Lifting repeat purchasing from 14% toward 20% would grow revenue without spending a dollar more on acquisition.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marL="0" indent="0" algn="l">
              <a:buNone/>
            </a:pPr>
            <a:r>
              <a:rPr lang="en-US" sz="3200" b="1" dirty="0">
                <a:solidFill>
                  <a:srgbClr val="264C41"/>
                </a:solidFill>
                <a:latin typeface="Cambria" pitchFamily="34" charset="0"/>
                <a:ea typeface="Cambria" pitchFamily="34" charset="-122"/>
                <a:cs typeface="Cambria" pitchFamily="34" charset="-120"/>
              </a:rPr>
              <a:t>A Canadian brand serving America</a:t>
            </a:r>
            <a:endParaRPr lang="en-US" sz="3200" dirty="0"/>
          </a:p>
        </p:txBody>
      </p:sp>
      <p:sp>
        <p:nvSpPr>
          <p:cNvPr id="3" name="Text 1"/>
          <p:cNvSpPr/>
          <p:nvPr/>
        </p:nvSpPr>
        <p:spPr>
          <a:xfrm>
            <a:off x="658368" y="1115568"/>
            <a:ext cx="10972800" cy="365760"/>
          </a:xfrm>
          <a:prstGeom prst="rect">
            <a:avLst/>
          </a:prstGeom>
          <a:noFill/>
          <a:ln/>
        </p:spPr>
        <p:txBody>
          <a:bodyPr wrap="square" rtlCol="0" anchor="ctr"/>
          <a:lstStyle/>
          <a:p>
            <a:pPr marL="0" indent="0" algn="l">
              <a:buNone/>
            </a:pPr>
            <a:r>
              <a:rPr lang="en-US" sz="1400" i="1" dirty="0">
                <a:solidFill>
                  <a:srgbClr val="C97B4A"/>
                </a:solidFill>
                <a:latin typeface="Calibri" pitchFamily="34" charset="0"/>
                <a:ea typeface="Calibri" pitchFamily="34" charset="-122"/>
                <a:cs typeface="Calibri" pitchFamily="34" charset="-120"/>
              </a:rPr>
              <a:t>A strategic fact hiding in plain sight</a:t>
            </a:r>
            <a:endParaRPr lang="en-US" sz="1400" dirty="0"/>
          </a:p>
        </p:txBody>
      </p:sp>
      <p:pic>
        <p:nvPicPr>
          <p:cNvPr id="4" name="Image 0" descr="charts/f6_geo.png"/>
          <p:cNvPicPr>
            <a:picLocks noChangeAspect="1"/>
          </p:cNvPicPr>
          <p:nvPr/>
        </p:nvPicPr>
        <p:blipFill>
          <a:blip r:embed="rId3"/>
          <a:stretch>
            <a:fillRect/>
          </a:stretch>
        </p:blipFill>
        <p:spPr>
          <a:xfrm>
            <a:off x="640080" y="1828800"/>
            <a:ext cx="6583680" cy="3200400"/>
          </a:xfrm>
          <a:prstGeom prst="rect">
            <a:avLst/>
          </a:prstGeom>
        </p:spPr>
      </p:pic>
      <p:sp>
        <p:nvSpPr>
          <p:cNvPr id="5" name="Shape 2"/>
          <p:cNvSpPr/>
          <p:nvPr/>
        </p:nvSpPr>
        <p:spPr>
          <a:xfrm>
            <a:off x="7589520" y="1920240"/>
            <a:ext cx="3931920" cy="3200400"/>
          </a:xfrm>
          <a:prstGeom prst="roundRect">
            <a:avLst>
              <a:gd name="adj" fmla="val 2286"/>
            </a:avLst>
          </a:prstGeom>
          <a:solidFill>
            <a:srgbClr val="F4F1EA"/>
          </a:solidFill>
          <a:ln w="12700">
            <a:solidFill>
              <a:srgbClr val="E2DAC9"/>
            </a:solidFill>
            <a:prstDash val="solid"/>
          </a:ln>
          <a:effectLst>
            <a:outerShdw blurRad="76200" dist="25400" dir="5400000" algn="bl" rotWithShape="0">
              <a:srgbClr val="BBBBBB">
                <a:alpha val="35000"/>
              </a:srgbClr>
            </a:outerShdw>
          </a:effectLst>
        </p:spPr>
        <p:txBody>
          <a:bodyPr/>
          <a:lstStyle/>
          <a:p>
            <a:endParaRPr lang="en-US"/>
          </a:p>
        </p:txBody>
      </p:sp>
      <p:sp>
        <p:nvSpPr>
          <p:cNvPr id="6" name="Text 3"/>
          <p:cNvSpPr/>
          <p:nvPr/>
        </p:nvSpPr>
        <p:spPr>
          <a:xfrm>
            <a:off x="7818120" y="2103120"/>
            <a:ext cx="3474720" cy="365760"/>
          </a:xfrm>
          <a:prstGeom prst="rect">
            <a:avLst/>
          </a:prstGeom>
          <a:noFill/>
          <a:ln/>
        </p:spPr>
        <p:txBody>
          <a:bodyPr wrap="square" rtlCol="0" anchor="ctr"/>
          <a:lstStyle/>
          <a:p>
            <a:pPr marL="0" indent="0">
              <a:buNone/>
            </a:pPr>
            <a:r>
              <a:rPr lang="en-US" sz="1800" b="1" dirty="0">
                <a:solidFill>
                  <a:srgbClr val="2F5D50"/>
                </a:solidFill>
                <a:latin typeface="Cambria" pitchFamily="34" charset="0"/>
                <a:ea typeface="Cambria" pitchFamily="34" charset="-122"/>
                <a:cs typeface="Cambria" pitchFamily="34" charset="-120"/>
              </a:rPr>
              <a:t>So what?</a:t>
            </a:r>
            <a:endParaRPr lang="en-US" sz="1800" dirty="0"/>
          </a:p>
        </p:txBody>
      </p:sp>
      <p:sp>
        <p:nvSpPr>
          <p:cNvPr id="7" name="Text 4"/>
          <p:cNvSpPr/>
          <p:nvPr/>
        </p:nvSpPr>
        <p:spPr>
          <a:xfrm>
            <a:off x="7863840" y="2560320"/>
            <a:ext cx="3429000" cy="2377440"/>
          </a:xfrm>
          <a:prstGeom prst="rect">
            <a:avLst/>
          </a:prstGeom>
          <a:noFill/>
          <a:ln/>
        </p:spPr>
        <p:txBody>
          <a:bodyPr wrap="square" rtlCol="0" anchor="ctr"/>
          <a:lstStyle/>
          <a:p>
            <a:pPr marL="342900" indent="-342900">
              <a:spcAft>
                <a:spcPts val="800"/>
              </a:spcAft>
              <a:buSzPct val="100000"/>
              <a:buChar char="•"/>
            </a:pPr>
            <a:r>
              <a:rPr lang="en-US" sz="1400" dirty="0">
                <a:solidFill>
                  <a:srgbClr val="2B2B28"/>
                </a:solidFill>
                <a:latin typeface="Calibri" pitchFamily="34" charset="0"/>
                <a:ea typeface="Calibri" pitchFamily="34" charset="-122"/>
                <a:cs typeface="Calibri" pitchFamily="34" charset="-120"/>
              </a:rPr>
              <a:t>75% of orders ship to the U.S. (113 of 151)</a:t>
            </a:r>
            <a:endParaRPr lang="en-US" sz="1400" dirty="0"/>
          </a:p>
          <a:p>
            <a:pPr marL="342900" indent="-342900">
              <a:spcAft>
                <a:spcPts val="800"/>
              </a:spcAft>
              <a:buSzPct val="100000"/>
              <a:buChar char="•"/>
            </a:pPr>
            <a:r>
              <a:rPr lang="en-US" sz="1400" dirty="0">
                <a:solidFill>
                  <a:srgbClr val="2B2B28"/>
                </a:solidFill>
                <a:latin typeface="Calibri" pitchFamily="34" charset="0"/>
                <a:ea typeface="Calibri" pitchFamily="34" charset="-122"/>
                <a:cs typeface="Calibri" pitchFamily="34" charset="-120"/>
              </a:rPr>
              <a:t>21% to Canada; every order is priced in USD</a:t>
            </a:r>
            <a:endParaRPr lang="en-US" sz="1400" dirty="0"/>
          </a:p>
          <a:p>
            <a:pPr marL="342900" indent="-342900">
              <a:spcAft>
                <a:spcPts val="800"/>
              </a:spcAft>
              <a:buSzPct val="100000"/>
              <a:buChar char="•"/>
            </a:pPr>
            <a:r>
              <a:rPr lang="en-US" sz="1400" dirty="0">
                <a:solidFill>
                  <a:srgbClr val="2B2B28"/>
                </a:solidFill>
                <a:latin typeface="Calibri" pitchFamily="34" charset="0"/>
                <a:ea typeface="Calibri" pitchFamily="34" charset="-122"/>
                <a:cs typeface="Calibri" pitchFamily="34" charset="-120"/>
              </a:rPr>
              <a:t>Shapes shipping, currency &amp; tax handling</a:t>
            </a:r>
            <a:endParaRPr lang="en-US" sz="1400" dirty="0"/>
          </a:p>
          <a:p>
            <a:pPr marL="342900" indent="-342900">
              <a:buSzPct val="100000"/>
              <a:buChar char="•"/>
            </a:pPr>
            <a:r>
              <a:rPr lang="en-US" sz="1400" dirty="0">
                <a:solidFill>
                  <a:srgbClr val="2B2B28"/>
                </a:solidFill>
                <a:latin typeface="Calibri" pitchFamily="34" charset="0"/>
                <a:ea typeface="Calibri" pitchFamily="34" charset="-122"/>
                <a:cs typeface="Calibri" pitchFamily="34" charset="-120"/>
              </a:rPr>
              <a:t>And where ad spend should be pointed once Meta data is connected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marL="0" indent="0" algn="l">
              <a:buNone/>
            </a:pPr>
            <a:r>
              <a:rPr lang="en-US" sz="3200" b="1" dirty="0">
                <a:solidFill>
                  <a:srgbClr val="264C41"/>
                </a:solidFill>
                <a:latin typeface="Cambria" pitchFamily="34" charset="0"/>
                <a:ea typeface="Cambria" pitchFamily="34" charset="-122"/>
                <a:cs typeface="Cambria" pitchFamily="34" charset="-120"/>
              </a:rPr>
              <a:t>Operations and discounting look healthy</a:t>
            </a:r>
            <a:endParaRPr lang="en-US" sz="3200" dirty="0"/>
          </a:p>
        </p:txBody>
      </p:sp>
      <p:sp>
        <p:nvSpPr>
          <p:cNvPr id="3" name="Text 1"/>
          <p:cNvSpPr/>
          <p:nvPr/>
        </p:nvSpPr>
        <p:spPr>
          <a:xfrm>
            <a:off x="658368" y="1115568"/>
            <a:ext cx="10972800" cy="365760"/>
          </a:xfrm>
          <a:prstGeom prst="rect">
            <a:avLst/>
          </a:prstGeom>
          <a:noFill/>
          <a:ln/>
        </p:spPr>
        <p:txBody>
          <a:bodyPr wrap="square" rtlCol="0" anchor="ctr"/>
          <a:lstStyle/>
          <a:p>
            <a:pPr marL="0" indent="0" algn="l">
              <a:buNone/>
            </a:pPr>
            <a:r>
              <a:rPr lang="en-US" sz="1400" i="1" dirty="0">
                <a:solidFill>
                  <a:srgbClr val="C97B4A"/>
                </a:solidFill>
                <a:latin typeface="Calibri" pitchFamily="34" charset="0"/>
                <a:ea typeface="Calibri" pitchFamily="34" charset="-122"/>
                <a:cs typeface="Calibri" pitchFamily="34" charset="-120"/>
              </a:rPr>
              <a:t>One thing to watch, one pleasant surprise</a:t>
            </a:r>
            <a:endParaRPr lang="en-US" sz="1400" dirty="0"/>
          </a:p>
        </p:txBody>
      </p:sp>
      <p:pic>
        <p:nvPicPr>
          <p:cNvPr id="4" name="Image 0" descr="charts/f5_fulfil.png"/>
          <p:cNvPicPr>
            <a:picLocks noChangeAspect="1"/>
          </p:cNvPicPr>
          <p:nvPr/>
        </p:nvPicPr>
        <p:blipFill>
          <a:blip r:embed="rId3"/>
          <a:stretch>
            <a:fillRect/>
          </a:stretch>
        </p:blipFill>
        <p:spPr>
          <a:xfrm>
            <a:off x="548640" y="1920240"/>
            <a:ext cx="5486400" cy="2651760"/>
          </a:xfrm>
          <a:prstGeom prst="rect">
            <a:avLst/>
          </a:prstGeom>
        </p:spPr>
      </p:pic>
      <p:pic>
        <p:nvPicPr>
          <p:cNvPr id="5" name="Image 1" descr="charts/f8_discount.png"/>
          <p:cNvPicPr>
            <a:picLocks noChangeAspect="1"/>
          </p:cNvPicPr>
          <p:nvPr/>
        </p:nvPicPr>
        <p:blipFill>
          <a:blip r:embed="rId4"/>
          <a:stretch>
            <a:fillRect/>
          </a:stretch>
        </p:blipFill>
        <p:spPr>
          <a:xfrm>
            <a:off x="6309360" y="1920240"/>
            <a:ext cx="5486400" cy="2651760"/>
          </a:xfrm>
          <a:prstGeom prst="rect">
            <a:avLst/>
          </a:prstGeom>
        </p:spPr>
      </p:pic>
      <p:sp>
        <p:nvSpPr>
          <p:cNvPr id="6" name="Text 2"/>
          <p:cNvSpPr/>
          <p:nvPr/>
        </p:nvSpPr>
        <p:spPr>
          <a:xfrm>
            <a:off x="548640" y="4709160"/>
            <a:ext cx="5486400" cy="731520"/>
          </a:xfrm>
          <a:prstGeom prst="rect">
            <a:avLst/>
          </a:prstGeom>
          <a:noFill/>
          <a:ln/>
        </p:spPr>
        <p:txBody>
          <a:bodyPr wrap="square" rtlCol="0" anchor="ctr"/>
          <a:lstStyle/>
          <a:p>
            <a:pPr marL="0" indent="0" algn="ctr">
              <a:buNone/>
            </a:pPr>
            <a:r>
              <a:rPr lang="en-US" sz="1400" dirty="0">
                <a:solidFill>
                  <a:srgbClr val="2B2B28"/>
                </a:solidFill>
                <a:latin typeface="Calibri" pitchFamily="34" charset="0"/>
                <a:ea typeface="Calibri" pitchFamily="34" charset="-122"/>
                <a:cs typeface="Calibri" pitchFamily="34" charset="-120"/>
              </a:rPr>
              <a:t>87% of orders fully fulfilled — keep an eye on the open ~13%.</a:t>
            </a:r>
            <a:endParaRPr lang="en-US" sz="1400" dirty="0"/>
          </a:p>
        </p:txBody>
      </p:sp>
      <p:sp>
        <p:nvSpPr>
          <p:cNvPr id="7" name="Text 3"/>
          <p:cNvSpPr/>
          <p:nvPr/>
        </p:nvSpPr>
        <p:spPr>
          <a:xfrm>
            <a:off x="6309360" y="4709160"/>
            <a:ext cx="5486400" cy="731520"/>
          </a:xfrm>
          <a:prstGeom prst="rect">
            <a:avLst/>
          </a:prstGeom>
          <a:noFill/>
          <a:ln/>
        </p:spPr>
        <p:txBody>
          <a:bodyPr wrap="square" rtlCol="0" anchor="ctr"/>
          <a:lstStyle/>
          <a:p>
            <a:pPr marL="0" indent="0" algn="ctr">
              <a:buNone/>
            </a:pPr>
            <a:r>
              <a:rPr lang="en-US" sz="1400" dirty="0">
                <a:solidFill>
                  <a:srgbClr val="2B2B28"/>
                </a:solidFill>
                <a:latin typeface="Calibri" pitchFamily="34" charset="0"/>
                <a:ea typeface="Calibri" pitchFamily="34" charset="-122"/>
                <a:cs typeface="Calibri" pitchFamily="34" charset="-120"/>
              </a:rPr>
              <a:t>Discounted orders are larger ($119 vs $95), not smaller — codes drive bigger baskets.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marL="0" indent="0" algn="l">
              <a:buNone/>
            </a:pPr>
            <a:r>
              <a:rPr lang="en-US" sz="3200" b="1" dirty="0">
                <a:solidFill>
                  <a:srgbClr val="264C41"/>
                </a:solidFill>
                <a:latin typeface="Cambria" pitchFamily="34" charset="0"/>
                <a:ea typeface="Cambria" pitchFamily="34" charset="-122"/>
                <a:cs typeface="Cambria" pitchFamily="34" charset="-120"/>
              </a:rPr>
              <a:t>What we can't answer yet — and why</a:t>
            </a:r>
            <a:endParaRPr lang="en-US" sz="3200" dirty="0"/>
          </a:p>
        </p:txBody>
      </p:sp>
      <p:sp>
        <p:nvSpPr>
          <p:cNvPr id="3" name="Text 1"/>
          <p:cNvSpPr/>
          <p:nvPr/>
        </p:nvSpPr>
        <p:spPr>
          <a:xfrm>
            <a:off x="658368" y="1115568"/>
            <a:ext cx="10972800" cy="365760"/>
          </a:xfrm>
          <a:prstGeom prst="rect">
            <a:avLst/>
          </a:prstGeom>
          <a:noFill/>
          <a:ln/>
        </p:spPr>
        <p:txBody>
          <a:bodyPr wrap="square" rtlCol="0" anchor="ctr"/>
          <a:lstStyle/>
          <a:p>
            <a:pPr marL="0" indent="0" algn="l">
              <a:buNone/>
            </a:pPr>
            <a:r>
              <a:rPr lang="en-US" sz="1400" i="1" dirty="0">
                <a:solidFill>
                  <a:srgbClr val="C97B4A"/>
                </a:solidFill>
                <a:latin typeface="Calibri" pitchFamily="34" charset="0"/>
                <a:ea typeface="Calibri" pitchFamily="34" charset="-122"/>
                <a:cs typeface="Calibri" pitchFamily="34" charset="-120"/>
              </a:rPr>
              <a:t>Being upfront is part of doing this responsibly</a:t>
            </a:r>
            <a:endParaRPr lang="en-US" sz="1400" dirty="0"/>
          </a:p>
        </p:txBody>
      </p:sp>
      <p:sp>
        <p:nvSpPr>
          <p:cNvPr id="4" name="Shape 2"/>
          <p:cNvSpPr/>
          <p:nvPr/>
        </p:nvSpPr>
        <p:spPr>
          <a:xfrm>
            <a:off x="640080" y="1828800"/>
            <a:ext cx="5212080" cy="1737360"/>
          </a:xfrm>
          <a:prstGeom prst="roundRect">
            <a:avLst>
              <a:gd name="adj" fmla="val 4211"/>
            </a:avLst>
          </a:prstGeom>
          <a:solidFill>
            <a:srgbClr val="FFFFFF"/>
          </a:solidFill>
          <a:ln w="12700">
            <a:solidFill>
              <a:srgbClr val="E2DAC9"/>
            </a:solidFill>
            <a:prstDash val="solid"/>
          </a:ln>
          <a:effectLst>
            <a:outerShdw blurRad="76200" dist="25400" dir="5400000" algn="bl" rotWithShape="0">
              <a:srgbClr val="BBBBBB">
                <a:alpha val="35000"/>
              </a:srgbClr>
            </a:outerShdw>
          </a:effectLst>
        </p:spPr>
        <p:txBody>
          <a:bodyPr/>
          <a:lstStyle/>
          <a:p>
            <a:endParaRPr lang="en-US"/>
          </a:p>
        </p:txBody>
      </p:sp>
      <p:sp>
        <p:nvSpPr>
          <p:cNvPr id="5" name="Shape 3"/>
          <p:cNvSpPr/>
          <p:nvPr/>
        </p:nvSpPr>
        <p:spPr>
          <a:xfrm>
            <a:off x="960120" y="2148840"/>
            <a:ext cx="566928" cy="566928"/>
          </a:xfrm>
          <a:prstGeom prst="ellipse">
            <a:avLst/>
          </a:prstGeom>
          <a:solidFill>
            <a:srgbClr val="C97B4A"/>
          </a:solidFill>
          <a:ln/>
        </p:spPr>
        <p:txBody>
          <a:bodyPr/>
          <a:lstStyle/>
          <a:p>
            <a:endParaRPr lang="en-US"/>
          </a:p>
        </p:txBody>
      </p:sp>
      <p:sp>
        <p:nvSpPr>
          <p:cNvPr id="6" name="Text 4"/>
          <p:cNvSpPr/>
          <p:nvPr/>
        </p:nvSpPr>
        <p:spPr>
          <a:xfrm>
            <a:off x="960120" y="2148840"/>
            <a:ext cx="566928" cy="56692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1737360" y="2148840"/>
            <a:ext cx="3931920" cy="457200"/>
          </a:xfrm>
          <a:prstGeom prst="rect">
            <a:avLst/>
          </a:prstGeom>
          <a:noFill/>
          <a:ln/>
        </p:spPr>
        <p:txBody>
          <a:bodyPr wrap="square" rtlCol="0" anchor="ctr"/>
          <a:lstStyle/>
          <a:p>
            <a:pPr marL="0" indent="0">
              <a:buNone/>
            </a:pPr>
            <a:r>
              <a:rPr lang="en-US" sz="1900" b="1" dirty="0">
                <a:solidFill>
                  <a:srgbClr val="264C41"/>
                </a:solidFill>
                <a:latin typeface="Cambria" pitchFamily="34" charset="0"/>
                <a:ea typeface="Cambria" pitchFamily="34" charset="-122"/>
                <a:cs typeface="Cambria" pitchFamily="34" charset="-120"/>
              </a:rPr>
              <a:t>Short window</a:t>
            </a:r>
            <a:endParaRPr lang="en-US" sz="1900" dirty="0"/>
          </a:p>
        </p:txBody>
      </p:sp>
      <p:sp>
        <p:nvSpPr>
          <p:cNvPr id="8" name="Text 6"/>
          <p:cNvSpPr/>
          <p:nvPr/>
        </p:nvSpPr>
        <p:spPr>
          <a:xfrm>
            <a:off x="1737360" y="2697480"/>
            <a:ext cx="3931920" cy="731520"/>
          </a:xfrm>
          <a:prstGeom prst="rect">
            <a:avLst/>
          </a:prstGeom>
          <a:noFill/>
          <a:ln/>
        </p:spPr>
        <p:txBody>
          <a:bodyPr wrap="square" rtlCol="0" anchor="ctr"/>
          <a:lstStyle/>
          <a:p>
            <a:pPr marL="0" indent="0">
              <a:buNone/>
            </a:pPr>
            <a:r>
              <a:rPr lang="en-US" sz="1400" dirty="0">
                <a:solidFill>
                  <a:srgbClr val="2B2B28"/>
                </a:solidFill>
                <a:latin typeface="Calibri" pitchFamily="34" charset="0"/>
                <a:ea typeface="Calibri" pitchFamily="34" charset="-122"/>
                <a:cs typeface="Calibri" pitchFamily="34" charset="-120"/>
              </a:rPr>
              <a:t>~3.5 months — too short for seasonality claims</a:t>
            </a:r>
            <a:endParaRPr lang="en-US" sz="1400" dirty="0"/>
          </a:p>
        </p:txBody>
      </p:sp>
      <p:sp>
        <p:nvSpPr>
          <p:cNvPr id="9" name="Shape 7"/>
          <p:cNvSpPr/>
          <p:nvPr/>
        </p:nvSpPr>
        <p:spPr>
          <a:xfrm>
            <a:off x="6217920" y="1828800"/>
            <a:ext cx="5212080" cy="1737360"/>
          </a:xfrm>
          <a:prstGeom prst="roundRect">
            <a:avLst>
              <a:gd name="adj" fmla="val 4211"/>
            </a:avLst>
          </a:prstGeom>
          <a:solidFill>
            <a:srgbClr val="FFFFFF"/>
          </a:solidFill>
          <a:ln w="12700">
            <a:solidFill>
              <a:srgbClr val="E2DAC9"/>
            </a:solidFill>
            <a:prstDash val="solid"/>
          </a:ln>
          <a:effectLst>
            <a:outerShdw blurRad="76200" dist="25400" dir="5400000" algn="bl" rotWithShape="0">
              <a:srgbClr val="BBBBBB">
                <a:alpha val="35000"/>
              </a:srgbClr>
            </a:outerShdw>
          </a:effectLst>
        </p:spPr>
        <p:txBody>
          <a:bodyPr/>
          <a:lstStyle/>
          <a:p>
            <a:endParaRPr lang="en-US"/>
          </a:p>
        </p:txBody>
      </p:sp>
      <p:sp>
        <p:nvSpPr>
          <p:cNvPr id="10" name="Shape 8"/>
          <p:cNvSpPr/>
          <p:nvPr/>
        </p:nvSpPr>
        <p:spPr>
          <a:xfrm>
            <a:off x="6537960" y="2148840"/>
            <a:ext cx="566928" cy="566928"/>
          </a:xfrm>
          <a:prstGeom prst="ellipse">
            <a:avLst/>
          </a:prstGeom>
          <a:solidFill>
            <a:srgbClr val="C97B4A"/>
          </a:solidFill>
          <a:ln/>
        </p:spPr>
        <p:txBody>
          <a:bodyPr/>
          <a:lstStyle/>
          <a:p>
            <a:endParaRPr lang="en-US"/>
          </a:p>
        </p:txBody>
      </p:sp>
      <p:sp>
        <p:nvSpPr>
          <p:cNvPr id="11" name="Text 9"/>
          <p:cNvSpPr/>
          <p:nvPr/>
        </p:nvSpPr>
        <p:spPr>
          <a:xfrm>
            <a:off x="6537960" y="2148840"/>
            <a:ext cx="566928" cy="56692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7315200" y="2148840"/>
            <a:ext cx="3931920" cy="457200"/>
          </a:xfrm>
          <a:prstGeom prst="rect">
            <a:avLst/>
          </a:prstGeom>
          <a:noFill/>
          <a:ln/>
        </p:spPr>
        <p:txBody>
          <a:bodyPr wrap="square" rtlCol="0" anchor="ctr"/>
          <a:lstStyle/>
          <a:p>
            <a:pPr marL="0" indent="0">
              <a:buNone/>
            </a:pPr>
            <a:r>
              <a:rPr lang="en-US" sz="1900" b="1" dirty="0">
                <a:solidFill>
                  <a:srgbClr val="264C41"/>
                </a:solidFill>
                <a:latin typeface="Cambria" pitchFamily="34" charset="0"/>
                <a:ea typeface="Cambria" pitchFamily="34" charset="-122"/>
                <a:cs typeface="Cambria" pitchFamily="34" charset="-120"/>
              </a:rPr>
              <a:t>Catalog gap</a:t>
            </a:r>
            <a:endParaRPr lang="en-US" sz="1900" dirty="0"/>
          </a:p>
        </p:txBody>
      </p:sp>
      <p:sp>
        <p:nvSpPr>
          <p:cNvPr id="13" name="Text 11"/>
          <p:cNvSpPr/>
          <p:nvPr/>
        </p:nvSpPr>
        <p:spPr>
          <a:xfrm>
            <a:off x="7315200" y="2697480"/>
            <a:ext cx="3931920" cy="731520"/>
          </a:xfrm>
          <a:prstGeom prst="rect">
            <a:avLst/>
          </a:prstGeom>
          <a:noFill/>
          <a:ln/>
        </p:spPr>
        <p:txBody>
          <a:bodyPr wrap="square" rtlCol="0" anchor="ctr"/>
          <a:lstStyle/>
          <a:p>
            <a:pPr marL="0" indent="0">
              <a:buNone/>
            </a:pPr>
            <a:r>
              <a:rPr lang="en-US" sz="1400" dirty="0">
                <a:solidFill>
                  <a:srgbClr val="2B2B28"/>
                </a:solidFill>
                <a:latin typeface="Calibri" pitchFamily="34" charset="0"/>
                <a:ea typeface="Calibri" pitchFamily="34" charset="-122"/>
                <a:cs typeface="Calibri" pitchFamily="34" charset="-120"/>
              </a:rPr>
              <a:t>~46% of line items didn't match the catalog</a:t>
            </a:r>
            <a:endParaRPr lang="en-US" sz="1400" dirty="0"/>
          </a:p>
        </p:txBody>
      </p:sp>
      <p:sp>
        <p:nvSpPr>
          <p:cNvPr id="14" name="Shape 12"/>
          <p:cNvSpPr/>
          <p:nvPr/>
        </p:nvSpPr>
        <p:spPr>
          <a:xfrm>
            <a:off x="640080" y="3794760"/>
            <a:ext cx="5212080" cy="1737360"/>
          </a:xfrm>
          <a:prstGeom prst="roundRect">
            <a:avLst>
              <a:gd name="adj" fmla="val 4211"/>
            </a:avLst>
          </a:prstGeom>
          <a:solidFill>
            <a:srgbClr val="FFFFFF"/>
          </a:solidFill>
          <a:ln w="12700">
            <a:solidFill>
              <a:srgbClr val="E2DAC9"/>
            </a:solidFill>
            <a:prstDash val="solid"/>
          </a:ln>
          <a:effectLst>
            <a:outerShdw blurRad="76200" dist="25400" dir="5400000" algn="bl" rotWithShape="0">
              <a:srgbClr val="BBBBBB">
                <a:alpha val="35000"/>
              </a:srgbClr>
            </a:outerShdw>
          </a:effectLst>
        </p:spPr>
        <p:txBody>
          <a:bodyPr/>
          <a:lstStyle/>
          <a:p>
            <a:endParaRPr lang="en-US"/>
          </a:p>
        </p:txBody>
      </p:sp>
      <p:sp>
        <p:nvSpPr>
          <p:cNvPr id="15" name="Shape 13"/>
          <p:cNvSpPr/>
          <p:nvPr/>
        </p:nvSpPr>
        <p:spPr>
          <a:xfrm>
            <a:off x="960120" y="4114800"/>
            <a:ext cx="566928" cy="566928"/>
          </a:xfrm>
          <a:prstGeom prst="ellipse">
            <a:avLst/>
          </a:prstGeom>
          <a:solidFill>
            <a:srgbClr val="C97B4A"/>
          </a:solidFill>
          <a:ln/>
        </p:spPr>
        <p:txBody>
          <a:bodyPr/>
          <a:lstStyle/>
          <a:p>
            <a:endParaRPr lang="en-US"/>
          </a:p>
        </p:txBody>
      </p:sp>
      <p:sp>
        <p:nvSpPr>
          <p:cNvPr id="16" name="Text 14"/>
          <p:cNvSpPr/>
          <p:nvPr/>
        </p:nvSpPr>
        <p:spPr>
          <a:xfrm>
            <a:off x="960120" y="4114800"/>
            <a:ext cx="566928" cy="56692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1737360" y="4114800"/>
            <a:ext cx="3931920" cy="457200"/>
          </a:xfrm>
          <a:prstGeom prst="rect">
            <a:avLst/>
          </a:prstGeom>
          <a:noFill/>
          <a:ln/>
        </p:spPr>
        <p:txBody>
          <a:bodyPr wrap="square" rtlCol="0" anchor="ctr"/>
          <a:lstStyle/>
          <a:p>
            <a:pPr marL="0" indent="0">
              <a:buNone/>
            </a:pPr>
            <a:r>
              <a:rPr lang="en-US" sz="1900" b="1" dirty="0">
                <a:solidFill>
                  <a:srgbClr val="264C41"/>
                </a:solidFill>
                <a:latin typeface="Cambria" pitchFamily="34" charset="0"/>
                <a:ea typeface="Cambria" pitchFamily="34" charset="-122"/>
                <a:cs typeface="Cambria" pitchFamily="34" charset="-120"/>
              </a:rPr>
              <a:t>No ad/web data</a:t>
            </a:r>
            <a:endParaRPr lang="en-US" sz="1900" dirty="0"/>
          </a:p>
        </p:txBody>
      </p:sp>
      <p:sp>
        <p:nvSpPr>
          <p:cNvPr id="18" name="Text 16"/>
          <p:cNvSpPr/>
          <p:nvPr/>
        </p:nvSpPr>
        <p:spPr>
          <a:xfrm>
            <a:off x="1737360" y="4663440"/>
            <a:ext cx="3931920" cy="731520"/>
          </a:xfrm>
          <a:prstGeom prst="rect">
            <a:avLst/>
          </a:prstGeom>
          <a:noFill/>
          <a:ln/>
        </p:spPr>
        <p:txBody>
          <a:bodyPr wrap="square" rtlCol="0" anchor="ctr"/>
          <a:lstStyle/>
          <a:p>
            <a:pPr marL="0" indent="0">
              <a:buNone/>
            </a:pPr>
            <a:r>
              <a:rPr lang="en-US" sz="1400" dirty="0">
                <a:solidFill>
                  <a:srgbClr val="2B2B28"/>
                </a:solidFill>
                <a:latin typeface="Calibri" pitchFamily="34" charset="0"/>
                <a:ea typeface="Calibri" pitchFamily="34" charset="-122"/>
                <a:cs typeface="Calibri" pitchFamily="34" charset="-120"/>
              </a:rPr>
              <a:t>Meta &amp; GA4 weren't in this export</a:t>
            </a:r>
            <a:endParaRPr lang="en-US" sz="1400" dirty="0"/>
          </a:p>
        </p:txBody>
      </p:sp>
      <p:sp>
        <p:nvSpPr>
          <p:cNvPr id="19" name="Shape 17"/>
          <p:cNvSpPr/>
          <p:nvPr/>
        </p:nvSpPr>
        <p:spPr>
          <a:xfrm>
            <a:off x="6217920" y="3794760"/>
            <a:ext cx="5212080" cy="1737360"/>
          </a:xfrm>
          <a:prstGeom prst="roundRect">
            <a:avLst>
              <a:gd name="adj" fmla="val 4211"/>
            </a:avLst>
          </a:prstGeom>
          <a:solidFill>
            <a:srgbClr val="FFFFFF"/>
          </a:solidFill>
          <a:ln w="12700">
            <a:solidFill>
              <a:srgbClr val="E2DAC9"/>
            </a:solidFill>
            <a:prstDash val="solid"/>
          </a:ln>
          <a:effectLst>
            <a:outerShdw blurRad="76200" dist="25400" dir="5400000" algn="bl" rotWithShape="0">
              <a:srgbClr val="BBBBBB">
                <a:alpha val="35000"/>
              </a:srgbClr>
            </a:outerShdw>
          </a:effectLst>
        </p:spPr>
        <p:txBody>
          <a:bodyPr/>
          <a:lstStyle/>
          <a:p>
            <a:endParaRPr lang="en-US"/>
          </a:p>
        </p:txBody>
      </p:sp>
      <p:sp>
        <p:nvSpPr>
          <p:cNvPr id="20" name="Shape 18"/>
          <p:cNvSpPr/>
          <p:nvPr/>
        </p:nvSpPr>
        <p:spPr>
          <a:xfrm>
            <a:off x="6537960" y="4114800"/>
            <a:ext cx="566928" cy="566928"/>
          </a:xfrm>
          <a:prstGeom prst="ellipse">
            <a:avLst/>
          </a:prstGeom>
          <a:solidFill>
            <a:srgbClr val="C97B4A"/>
          </a:solidFill>
          <a:ln/>
        </p:spPr>
        <p:txBody>
          <a:bodyPr/>
          <a:lstStyle/>
          <a:p>
            <a:endParaRPr lang="en-US"/>
          </a:p>
        </p:txBody>
      </p:sp>
      <p:sp>
        <p:nvSpPr>
          <p:cNvPr id="21" name="Text 19"/>
          <p:cNvSpPr/>
          <p:nvPr/>
        </p:nvSpPr>
        <p:spPr>
          <a:xfrm>
            <a:off x="6537960" y="4114800"/>
            <a:ext cx="566928" cy="56692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2" name="Text 20"/>
          <p:cNvSpPr/>
          <p:nvPr/>
        </p:nvSpPr>
        <p:spPr>
          <a:xfrm>
            <a:off x="7315200" y="4114800"/>
            <a:ext cx="3931920" cy="457200"/>
          </a:xfrm>
          <a:prstGeom prst="rect">
            <a:avLst/>
          </a:prstGeom>
          <a:noFill/>
          <a:ln/>
        </p:spPr>
        <p:txBody>
          <a:bodyPr wrap="square" rtlCol="0" anchor="ctr"/>
          <a:lstStyle/>
          <a:p>
            <a:pPr marL="0" indent="0">
              <a:buNone/>
            </a:pPr>
            <a:r>
              <a:rPr lang="en-US" sz="1900" b="1" dirty="0">
                <a:solidFill>
                  <a:srgbClr val="264C41"/>
                </a:solidFill>
                <a:latin typeface="Cambria" pitchFamily="34" charset="0"/>
                <a:ea typeface="Cambria" pitchFamily="34" charset="-122"/>
                <a:cs typeface="Cambria" pitchFamily="34" charset="-120"/>
              </a:rPr>
              <a:t>Mixed list</a:t>
            </a:r>
            <a:endParaRPr lang="en-US" sz="1900" dirty="0"/>
          </a:p>
        </p:txBody>
      </p:sp>
      <p:sp>
        <p:nvSpPr>
          <p:cNvPr id="23" name="Text 21"/>
          <p:cNvSpPr/>
          <p:nvPr/>
        </p:nvSpPr>
        <p:spPr>
          <a:xfrm>
            <a:off x="7315200" y="4663440"/>
            <a:ext cx="3931920" cy="731520"/>
          </a:xfrm>
          <a:prstGeom prst="rect">
            <a:avLst/>
          </a:prstGeom>
          <a:noFill/>
          <a:ln/>
        </p:spPr>
        <p:txBody>
          <a:bodyPr wrap="square" rtlCol="0" anchor="ctr"/>
          <a:lstStyle/>
          <a:p>
            <a:pPr marL="0" indent="0">
              <a:buNone/>
            </a:pPr>
            <a:r>
              <a:rPr lang="en-US" sz="1400" dirty="0">
                <a:solidFill>
                  <a:srgbClr val="2B2B28"/>
                </a:solidFill>
                <a:latin typeface="Calibri" pitchFamily="34" charset="0"/>
                <a:ea typeface="Calibri" pitchFamily="34" charset="-122"/>
                <a:cs typeface="Calibri" pitchFamily="34" charset="-120"/>
              </a:rPr>
              <a:t>94.5% of customer records never bought</a:t>
            </a:r>
            <a:endParaRPr lang="en-US" sz="1400" dirty="0"/>
          </a:p>
        </p:txBody>
      </p:sp>
      <p:sp>
        <p:nvSpPr>
          <p:cNvPr id="24" name="Text 22"/>
          <p:cNvSpPr/>
          <p:nvPr/>
        </p:nvSpPr>
        <p:spPr>
          <a:xfrm>
            <a:off x="822960" y="5806440"/>
            <a:ext cx="10515600" cy="640080"/>
          </a:xfrm>
          <a:prstGeom prst="rect">
            <a:avLst/>
          </a:prstGeom>
          <a:noFill/>
          <a:ln/>
        </p:spPr>
        <p:txBody>
          <a:bodyPr wrap="square" rtlCol="0" anchor="ctr"/>
          <a:lstStyle/>
          <a:p>
            <a:pPr marL="0" indent="0">
              <a:buNone/>
            </a:pPr>
            <a:r>
              <a:rPr lang="en-US" sz="1450" i="1" dirty="0">
                <a:solidFill>
                  <a:srgbClr val="2F5D50"/>
                </a:solidFill>
                <a:latin typeface="Calibri" pitchFamily="34" charset="0"/>
                <a:ea typeface="Calibri" pitchFamily="34" charset="-122"/>
                <a:cs typeface="Calibri" pitchFamily="34" charset="-120"/>
              </a:rPr>
              <a:t>Ad efficiency (ROAS/CPA) and the on-site funnel are defined in our KPI framework and left as dashboard placeholders — they populate the moment Meta &amp; GA4 are connected.</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marL="0" indent="0" algn="l">
              <a:buNone/>
            </a:pPr>
            <a:r>
              <a:rPr lang="en-US" sz="3200" b="1" dirty="0">
                <a:solidFill>
                  <a:srgbClr val="264C41"/>
                </a:solidFill>
                <a:latin typeface="Cambria" pitchFamily="34" charset="0"/>
                <a:ea typeface="Cambria" pitchFamily="34" charset="-122"/>
                <a:cs typeface="Cambria" pitchFamily="34" charset="-120"/>
              </a:rPr>
              <a:t>What we recommend</a:t>
            </a:r>
            <a:endParaRPr lang="en-US" sz="3200" dirty="0"/>
          </a:p>
        </p:txBody>
      </p:sp>
      <p:sp>
        <p:nvSpPr>
          <p:cNvPr id="3" name="Text 1"/>
          <p:cNvSpPr/>
          <p:nvPr/>
        </p:nvSpPr>
        <p:spPr>
          <a:xfrm>
            <a:off x="658368" y="1115568"/>
            <a:ext cx="10972800" cy="365760"/>
          </a:xfrm>
          <a:prstGeom prst="rect">
            <a:avLst/>
          </a:prstGeom>
          <a:noFill/>
          <a:ln/>
        </p:spPr>
        <p:txBody>
          <a:bodyPr wrap="square" rtlCol="0" anchor="ctr"/>
          <a:lstStyle/>
          <a:p>
            <a:pPr marL="0" indent="0" algn="l">
              <a:buNone/>
            </a:pPr>
            <a:r>
              <a:rPr lang="en-US" sz="1400" i="1" dirty="0">
                <a:solidFill>
                  <a:srgbClr val="C97B4A"/>
                </a:solidFill>
                <a:latin typeface="Calibri" pitchFamily="34" charset="0"/>
                <a:ea typeface="Calibri" pitchFamily="34" charset="-122"/>
                <a:cs typeface="Calibri" pitchFamily="34" charset="-120"/>
              </a:rPr>
              <a:t>Ordered by impact versus effort</a:t>
            </a:r>
            <a:endParaRPr lang="en-US" sz="1400" dirty="0"/>
          </a:p>
        </p:txBody>
      </p:sp>
      <p:sp>
        <p:nvSpPr>
          <p:cNvPr id="4" name="Shape 2"/>
          <p:cNvSpPr/>
          <p:nvPr/>
        </p:nvSpPr>
        <p:spPr>
          <a:xfrm>
            <a:off x="640080" y="1828800"/>
            <a:ext cx="5486400" cy="4206240"/>
          </a:xfrm>
          <a:prstGeom prst="roundRect">
            <a:avLst>
              <a:gd name="adj" fmla="val 1739"/>
            </a:avLst>
          </a:prstGeom>
          <a:solidFill>
            <a:srgbClr val="FFFFFF"/>
          </a:solidFill>
          <a:ln w="12700">
            <a:solidFill>
              <a:srgbClr val="E2DAC9"/>
            </a:solidFill>
            <a:prstDash val="solid"/>
          </a:ln>
          <a:effectLst>
            <a:outerShdw blurRad="76200" dist="25400" dir="5400000" algn="bl" rotWithShape="0">
              <a:srgbClr val="BBBBBB">
                <a:alpha val="35000"/>
              </a:srgbClr>
            </a:outerShdw>
          </a:effectLst>
        </p:spPr>
        <p:txBody>
          <a:bodyPr/>
          <a:lstStyle/>
          <a:p>
            <a:endParaRPr lang="en-US"/>
          </a:p>
        </p:txBody>
      </p:sp>
      <p:sp>
        <p:nvSpPr>
          <p:cNvPr id="5" name="Text 3"/>
          <p:cNvSpPr/>
          <p:nvPr/>
        </p:nvSpPr>
        <p:spPr>
          <a:xfrm>
            <a:off x="914400" y="2057400"/>
            <a:ext cx="4937760" cy="457200"/>
          </a:xfrm>
          <a:prstGeom prst="rect">
            <a:avLst/>
          </a:prstGeom>
          <a:noFill/>
          <a:ln/>
        </p:spPr>
        <p:txBody>
          <a:bodyPr wrap="square" rtlCol="0" anchor="ctr"/>
          <a:lstStyle/>
          <a:p>
            <a:pPr marL="0" indent="0">
              <a:buNone/>
            </a:pPr>
            <a:r>
              <a:rPr lang="en-US" sz="2000" b="1" dirty="0">
                <a:solidFill>
                  <a:srgbClr val="2F5D50"/>
                </a:solidFill>
                <a:latin typeface="Cambria" pitchFamily="34" charset="0"/>
                <a:ea typeface="Cambria" pitchFamily="34" charset="-122"/>
                <a:cs typeface="Cambria" pitchFamily="34" charset="-120"/>
              </a:rPr>
              <a:t>Quick wins — act now</a:t>
            </a:r>
            <a:endParaRPr lang="en-US" sz="2000" dirty="0"/>
          </a:p>
        </p:txBody>
      </p:sp>
      <p:sp>
        <p:nvSpPr>
          <p:cNvPr id="6" name="Text 4"/>
          <p:cNvSpPr/>
          <p:nvPr/>
        </p:nvSpPr>
        <p:spPr>
          <a:xfrm>
            <a:off x="960120" y="2651760"/>
            <a:ext cx="4892040" cy="3108960"/>
          </a:xfrm>
          <a:prstGeom prst="rect">
            <a:avLst/>
          </a:prstGeom>
          <a:noFill/>
          <a:ln/>
        </p:spPr>
        <p:txBody>
          <a:bodyPr wrap="square" rtlCol="0" anchor="ctr"/>
          <a:lstStyle/>
          <a:p>
            <a:pPr marL="342900" indent="-342900">
              <a:spcAft>
                <a:spcPts val="1200"/>
              </a:spcAft>
              <a:buSzPct val="100000"/>
              <a:buChar char="•"/>
            </a:pPr>
            <a:r>
              <a:rPr lang="en-US" sz="1500" dirty="0">
                <a:solidFill>
                  <a:srgbClr val="2B2B28"/>
                </a:solidFill>
                <a:latin typeface="Calibri" pitchFamily="34" charset="0"/>
                <a:ea typeface="Calibri" pitchFamily="34" charset="-122"/>
                <a:cs typeface="Calibri" pitchFamily="34" charset="-120"/>
              </a:rPr>
              <a:t>Build a post-purchase email flow to lift repeat buying toward 20%</a:t>
            </a:r>
            <a:endParaRPr lang="en-US" sz="1500" dirty="0"/>
          </a:p>
          <a:p>
            <a:pPr marL="342900" indent="-342900">
              <a:spcAft>
                <a:spcPts val="1200"/>
              </a:spcAft>
              <a:buSzPct val="100000"/>
              <a:buChar char="•"/>
            </a:pPr>
            <a:r>
              <a:rPr lang="en-US" sz="1500" dirty="0">
                <a:solidFill>
                  <a:srgbClr val="2B2B28"/>
                </a:solidFill>
                <a:latin typeface="Calibri" pitchFamily="34" charset="0"/>
                <a:ea typeface="Calibri" pitchFamily="34" charset="-122"/>
                <a:cs typeface="Calibri" pitchFamily="34" charset="-120"/>
              </a:rPr>
              <a:t>Lean into Tops &amp; Diaper Covers — inventory, placement, bundles</a:t>
            </a:r>
            <a:endParaRPr lang="en-US" sz="1500" dirty="0"/>
          </a:p>
          <a:p>
            <a:pPr marL="342900" indent="-342900">
              <a:spcAft>
                <a:spcPts val="1200"/>
              </a:spcAft>
              <a:buSzPct val="100000"/>
              <a:buChar char="•"/>
            </a:pPr>
            <a:r>
              <a:rPr lang="en-US" sz="1500" dirty="0">
                <a:solidFill>
                  <a:srgbClr val="2B2B28"/>
                </a:solidFill>
                <a:latin typeface="Calibri" pitchFamily="34" charset="0"/>
                <a:ea typeface="Calibri" pitchFamily="34" charset="-122"/>
                <a:cs typeface="Calibri" pitchFamily="34" charset="-120"/>
              </a:rPr>
              <a:t>Treat the U.S. as the primary market, deliberately</a:t>
            </a:r>
            <a:endParaRPr lang="en-US" sz="1500" dirty="0"/>
          </a:p>
          <a:p>
            <a:pPr marL="342900" indent="-342900">
              <a:buSzPct val="100000"/>
              <a:buChar char="•"/>
            </a:pPr>
            <a:r>
              <a:rPr lang="en-US" sz="1500" dirty="0">
                <a:solidFill>
                  <a:srgbClr val="2B2B28"/>
                </a:solidFill>
                <a:latin typeface="Calibri" pitchFamily="34" charset="0"/>
                <a:ea typeface="Calibri" pitchFamily="34" charset="-122"/>
                <a:cs typeface="Calibri" pitchFamily="34" charset="-120"/>
              </a:rPr>
              <a:t>Keep discounting, but tag campaigns to track what works</a:t>
            </a:r>
            <a:endParaRPr lang="en-US" sz="1500" dirty="0"/>
          </a:p>
        </p:txBody>
      </p:sp>
      <p:sp>
        <p:nvSpPr>
          <p:cNvPr id="7" name="Shape 5"/>
          <p:cNvSpPr/>
          <p:nvPr/>
        </p:nvSpPr>
        <p:spPr>
          <a:xfrm>
            <a:off x="6355080" y="1828800"/>
            <a:ext cx="5166360" cy="4206240"/>
          </a:xfrm>
          <a:prstGeom prst="roundRect">
            <a:avLst>
              <a:gd name="adj" fmla="val 1739"/>
            </a:avLst>
          </a:prstGeom>
          <a:solidFill>
            <a:srgbClr val="F4F1EA"/>
          </a:solidFill>
          <a:ln w="12700">
            <a:solidFill>
              <a:srgbClr val="E2DAC9"/>
            </a:solidFill>
            <a:prstDash val="solid"/>
          </a:ln>
          <a:effectLst>
            <a:outerShdw blurRad="76200" dist="25400" dir="5400000" algn="bl" rotWithShape="0">
              <a:srgbClr val="BBBBBB">
                <a:alpha val="35000"/>
              </a:srgbClr>
            </a:outerShdw>
          </a:effectLst>
        </p:spPr>
        <p:txBody>
          <a:bodyPr/>
          <a:lstStyle/>
          <a:p>
            <a:endParaRPr lang="en-US"/>
          </a:p>
        </p:txBody>
      </p:sp>
      <p:sp>
        <p:nvSpPr>
          <p:cNvPr id="8" name="Text 6"/>
          <p:cNvSpPr/>
          <p:nvPr/>
        </p:nvSpPr>
        <p:spPr>
          <a:xfrm>
            <a:off x="6629400" y="2057400"/>
            <a:ext cx="4663440" cy="457200"/>
          </a:xfrm>
          <a:prstGeom prst="rect">
            <a:avLst/>
          </a:prstGeom>
          <a:noFill/>
          <a:ln/>
        </p:spPr>
        <p:txBody>
          <a:bodyPr wrap="square" rtlCol="0" anchor="ctr"/>
          <a:lstStyle/>
          <a:p>
            <a:pPr marL="0" indent="0">
              <a:buNone/>
            </a:pPr>
            <a:r>
              <a:rPr lang="en-US" sz="2000" b="1" dirty="0">
                <a:solidFill>
                  <a:srgbClr val="C97B4A"/>
                </a:solidFill>
                <a:latin typeface="Cambria" pitchFamily="34" charset="0"/>
                <a:ea typeface="Cambria" pitchFamily="34" charset="-122"/>
                <a:cs typeface="Cambria" pitchFamily="34" charset="-120"/>
              </a:rPr>
              <a:t>Foundations — unlock the full picture</a:t>
            </a:r>
            <a:endParaRPr lang="en-US" sz="2000" dirty="0"/>
          </a:p>
        </p:txBody>
      </p:sp>
      <p:sp>
        <p:nvSpPr>
          <p:cNvPr id="9" name="Text 7"/>
          <p:cNvSpPr/>
          <p:nvPr/>
        </p:nvSpPr>
        <p:spPr>
          <a:xfrm>
            <a:off x="6675120" y="2651760"/>
            <a:ext cx="4572000" cy="3108960"/>
          </a:xfrm>
          <a:prstGeom prst="rect">
            <a:avLst/>
          </a:prstGeom>
          <a:noFill/>
          <a:ln/>
        </p:spPr>
        <p:txBody>
          <a:bodyPr wrap="square" rtlCol="0" anchor="ctr"/>
          <a:lstStyle/>
          <a:p>
            <a:pPr marL="342900" indent="-342900">
              <a:spcAft>
                <a:spcPts val="1200"/>
              </a:spcAft>
              <a:buSzPct val="100000"/>
              <a:buChar char="•"/>
            </a:pPr>
            <a:r>
              <a:rPr lang="en-US" sz="1500" dirty="0">
                <a:solidFill>
                  <a:srgbClr val="2B2B28"/>
                </a:solidFill>
                <a:latin typeface="Calibri" pitchFamily="34" charset="0"/>
                <a:ea typeface="Calibri" pitchFamily="34" charset="-122"/>
                <a:cs typeface="Calibri" pitchFamily="34" charset="-120"/>
              </a:rPr>
              <a:t>Fix product naming &amp; SKUs at the source (closes the catalog gap)</a:t>
            </a:r>
            <a:endParaRPr lang="en-US" sz="1500" dirty="0"/>
          </a:p>
          <a:p>
            <a:pPr marL="342900" indent="-342900">
              <a:spcAft>
                <a:spcPts val="1200"/>
              </a:spcAft>
              <a:buSzPct val="100000"/>
              <a:buChar char="•"/>
            </a:pPr>
            <a:r>
              <a:rPr lang="en-US" sz="1500" dirty="0">
                <a:solidFill>
                  <a:srgbClr val="2B2B28"/>
                </a:solidFill>
                <a:latin typeface="Calibri" pitchFamily="34" charset="0"/>
                <a:ea typeface="Calibri" pitchFamily="34" charset="-122"/>
                <a:cs typeface="Calibri" pitchFamily="34" charset="-120"/>
              </a:rPr>
              <a:t>Connect Meta &amp; GA4 into the reporting model</a:t>
            </a:r>
            <a:endParaRPr lang="en-US" sz="1500" dirty="0"/>
          </a:p>
          <a:p>
            <a:pPr marL="342900" indent="-342900">
              <a:spcAft>
                <a:spcPts val="1200"/>
              </a:spcAft>
              <a:buSzPct val="100000"/>
              <a:buChar char="•"/>
            </a:pPr>
            <a:r>
              <a:rPr lang="en-US" sz="1500" dirty="0">
                <a:solidFill>
                  <a:srgbClr val="2B2B28"/>
                </a:solidFill>
                <a:latin typeface="Calibri" pitchFamily="34" charset="0"/>
                <a:ea typeface="Calibri" pitchFamily="34" charset="-122"/>
                <a:cs typeface="Calibri" pitchFamily="34" charset="-120"/>
              </a:rPr>
              <a:t>Adopt the dashboard as a weekly habit</a:t>
            </a:r>
            <a:endParaRPr lang="en-US" sz="1500" dirty="0"/>
          </a:p>
          <a:p>
            <a:pPr marL="342900" indent="-342900">
              <a:buSzPct val="100000"/>
              <a:buChar char="•"/>
            </a:pPr>
            <a:r>
              <a:rPr lang="en-US" sz="1500" dirty="0">
                <a:solidFill>
                  <a:srgbClr val="2B2B28"/>
                </a:solidFill>
                <a:latin typeface="Calibri" pitchFamily="34" charset="0"/>
                <a:ea typeface="Calibri" pitchFamily="34" charset="-122"/>
                <a:cs typeface="Calibri" pitchFamily="34" charset="-120"/>
              </a:rPr>
              <a:t>Revisit seasonality once a full year of clean data exists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64C41"/>
        </a:solidFill>
        <a:effectLst/>
      </p:bgPr>
    </p:bg>
    <p:spTree>
      <p:nvGrpSpPr>
        <p:cNvPr id="1" name=""/>
        <p:cNvGrpSpPr/>
        <p:nvPr/>
      </p:nvGrpSpPr>
      <p:grpSpPr>
        <a:xfrm>
          <a:off x="0" y="0"/>
          <a:ext cx="0" cy="0"/>
          <a:chOff x="0" y="0"/>
          <a:chExt cx="0" cy="0"/>
        </a:xfrm>
      </p:grpSpPr>
      <p:sp>
        <p:nvSpPr>
          <p:cNvPr id="2" name="Text 0"/>
          <p:cNvSpPr/>
          <p:nvPr/>
        </p:nvSpPr>
        <p:spPr>
          <a:xfrm>
            <a:off x="640080" y="640080"/>
            <a:ext cx="914400" cy="914400"/>
          </a:xfrm>
          <a:prstGeom prst="rect">
            <a:avLst/>
          </a:prstGeom>
          <a:noFill/>
          <a:ln/>
        </p:spPr>
        <p:txBody>
          <a:bodyPr wrap="square" rtlCol="0" anchor="ctr"/>
          <a:lstStyle/>
          <a:p>
            <a:pPr marL="0" indent="0">
              <a:buNone/>
            </a:pPr>
            <a:r>
              <a:rPr lang="en-US" sz="4000" dirty="0">
                <a:solidFill>
                  <a:srgbClr val="C97B4A"/>
                </a:solidFill>
                <a:latin typeface="Calibri" pitchFamily="34" charset="0"/>
                <a:ea typeface="Calibri" pitchFamily="34" charset="-122"/>
                <a:cs typeface="Calibri" pitchFamily="34" charset="-120"/>
              </a:rPr>
              <a:t>❋</a:t>
            </a:r>
            <a:endParaRPr lang="en-US" sz="4000" dirty="0"/>
          </a:p>
        </p:txBody>
      </p:sp>
      <p:sp>
        <p:nvSpPr>
          <p:cNvPr id="3" name="Text 1"/>
          <p:cNvSpPr/>
          <p:nvPr/>
        </p:nvSpPr>
        <p:spPr>
          <a:xfrm>
            <a:off x="640080" y="1645920"/>
            <a:ext cx="10972800" cy="82296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Where this goes next</a:t>
            </a:r>
            <a:endParaRPr lang="en-US" sz="4000" dirty="0"/>
          </a:p>
        </p:txBody>
      </p:sp>
      <p:sp>
        <p:nvSpPr>
          <p:cNvPr id="4" name="Text 2"/>
          <p:cNvSpPr/>
          <p:nvPr/>
        </p:nvSpPr>
        <p:spPr>
          <a:xfrm>
            <a:off x="822960" y="2743200"/>
            <a:ext cx="10058400" cy="1737360"/>
          </a:xfrm>
          <a:prstGeom prst="rect">
            <a:avLst/>
          </a:prstGeom>
          <a:noFill/>
          <a:ln/>
        </p:spPr>
        <p:txBody>
          <a:bodyPr wrap="square" rtlCol="0" anchor="ctr"/>
          <a:lstStyle/>
          <a:p>
            <a:pPr marL="342900" indent="-342900">
              <a:spcAft>
                <a:spcPts val="1000"/>
              </a:spcAft>
              <a:buSzPct val="100000"/>
              <a:buChar char="•"/>
            </a:pPr>
            <a:r>
              <a:rPr lang="en-US" sz="1800" dirty="0">
                <a:solidFill>
                  <a:srgbClr val="E8EEEA"/>
                </a:solidFill>
                <a:latin typeface="Calibri" pitchFamily="34" charset="0"/>
                <a:ea typeface="Calibri" pitchFamily="34" charset="-122"/>
                <a:cs typeface="Calibri" pitchFamily="34" charset="-120"/>
              </a:rPr>
              <a:t>Stand up the Meta &amp; GA4 feeds</a:t>
            </a:r>
            <a:endParaRPr lang="en-US" sz="1800" dirty="0"/>
          </a:p>
          <a:p>
            <a:pPr marL="342900" indent="-342900">
              <a:spcAft>
                <a:spcPts val="1000"/>
              </a:spcAft>
              <a:buSzPct val="100000"/>
              <a:buChar char="•"/>
            </a:pPr>
            <a:r>
              <a:rPr lang="en-US" sz="1800" dirty="0">
                <a:solidFill>
                  <a:srgbClr val="E8EEEA"/>
                </a:solidFill>
                <a:latin typeface="Calibri" pitchFamily="34" charset="0"/>
                <a:ea typeface="Calibri" pitchFamily="34" charset="-122"/>
                <a:cs typeface="Calibri" pitchFamily="34" charset="-120"/>
              </a:rPr>
              <a:t>Rebuild the product view on a clean SKU system</a:t>
            </a:r>
            <a:endParaRPr lang="en-US" sz="1800" dirty="0"/>
          </a:p>
          <a:p>
            <a:pPr marL="342900" indent="-342900">
              <a:buSzPct val="100000"/>
              <a:buChar char="•"/>
            </a:pPr>
            <a:r>
              <a:rPr lang="en-US" sz="1800" dirty="0">
                <a:solidFill>
                  <a:srgbClr val="E8EEEA"/>
                </a:solidFill>
                <a:latin typeface="Calibri" pitchFamily="34" charset="0"/>
                <a:ea typeface="Calibri" pitchFamily="34" charset="-122"/>
                <a:cs typeface="Calibri" pitchFamily="34" charset="-120"/>
              </a:rPr>
              <a:t>Validate retention &amp; discount patterns on a larger sample</a:t>
            </a:r>
            <a:endParaRPr lang="en-US" sz="1800" dirty="0"/>
          </a:p>
        </p:txBody>
      </p:sp>
      <p:sp>
        <p:nvSpPr>
          <p:cNvPr id="5" name="Text 3"/>
          <p:cNvSpPr/>
          <p:nvPr/>
        </p:nvSpPr>
        <p:spPr>
          <a:xfrm>
            <a:off x="822960" y="4572000"/>
            <a:ext cx="10058400" cy="457200"/>
          </a:xfrm>
          <a:prstGeom prst="rect">
            <a:avLst/>
          </a:prstGeom>
          <a:noFill/>
          <a:ln/>
        </p:spPr>
        <p:txBody>
          <a:bodyPr wrap="square" rtlCol="0" anchor="ctr"/>
          <a:lstStyle/>
          <a:p>
            <a:pPr marL="0" indent="0">
              <a:buNone/>
            </a:pPr>
            <a:r>
              <a:rPr lang="en-US" sz="1600" i="1" dirty="0">
                <a:solidFill>
                  <a:srgbClr val="E4C580"/>
                </a:solidFill>
                <a:latin typeface="Calibri" pitchFamily="34" charset="0"/>
                <a:ea typeface="Calibri" pitchFamily="34" charset="-122"/>
                <a:cs typeface="Calibri" pitchFamily="34" charset="-120"/>
              </a:rPr>
              <a:t>The infrastructure is built to absorb these without a rebuild.</a:t>
            </a:r>
            <a:endParaRPr lang="en-US" sz="1600" dirty="0"/>
          </a:p>
        </p:txBody>
      </p:sp>
      <p:sp>
        <p:nvSpPr>
          <p:cNvPr id="6" name="Text 4"/>
          <p:cNvSpPr/>
          <p:nvPr/>
        </p:nvSpPr>
        <p:spPr>
          <a:xfrm>
            <a:off x="822960" y="5303520"/>
            <a:ext cx="10058400" cy="54864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Thank you — questions welcome.</a:t>
            </a:r>
            <a:endParaRPr lang="en-US" sz="2200" dirty="0"/>
          </a:p>
        </p:txBody>
      </p:sp>
      <p:sp>
        <p:nvSpPr>
          <p:cNvPr id="7" name="Text 5"/>
          <p:cNvSpPr/>
          <p:nvPr/>
        </p:nvSpPr>
        <p:spPr>
          <a:xfrm>
            <a:off x="822960" y="6126480"/>
            <a:ext cx="10058400" cy="365760"/>
          </a:xfrm>
          <a:prstGeom prst="rect">
            <a:avLst/>
          </a:prstGeom>
          <a:noFill/>
          <a:ln/>
        </p:spPr>
        <p:txBody>
          <a:bodyPr wrap="square" rtlCol="0" anchor="ctr"/>
          <a:lstStyle/>
          <a:p>
            <a:pPr marL="0" indent="0">
              <a:buNone/>
            </a:pPr>
            <a:r>
              <a:rPr lang="en-US" sz="1200" dirty="0">
                <a:solidFill>
                  <a:srgbClr val="9FB8AC"/>
                </a:solidFill>
                <a:latin typeface="Calibri" pitchFamily="34" charset="0"/>
                <a:ea typeface="Calibri" pitchFamily="34" charset="-122"/>
                <a:cs typeface="Calibri" pitchFamily="34" charset="-120"/>
              </a:rPr>
              <a:t>Group 6 · MGMT 6219 · Bumby Wool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1596</Words>
  <Application>Microsoft Macintosh PowerPoint</Application>
  <PresentationFormat>Widescreen</PresentationFormat>
  <Paragraphs>143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Balraju, Baranitharan</cp:lastModifiedBy>
  <cp:revision>2</cp:revision>
  <dcterms:created xsi:type="dcterms:W3CDTF">2026-08-05T15:45:15Z</dcterms:created>
  <dcterms:modified xsi:type="dcterms:W3CDTF">2026-08-05T23:17:01Z</dcterms:modified>
</cp:coreProperties>
</file>